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AnalystLab%20Africa\Week%201\Telco%20Customer%20Churn%20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AnalystLab%20Africa\Week%201\Telco%20Customer%20Churn%20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AnalystLab%20Africa\Week%201\Telco%20Customer%20Churn%20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AnalystLab%20Africa\Week%201\Telco%20Customer%20Churn%20Datas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AnalystLab%20Africa\Week%201\Telco%20Customer%20Churn%20Datas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AnalystLab%20Africa\Week%201\Telco%20Customer%20Churn%20Datase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 i="0" u="none" strike="noStrike" baseline="0"/>
              <a:t>CUSTOMER DEMOGRAPHIC PROFILE</a:t>
            </a:r>
            <a:endParaRPr lang="en-US" sz="11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'Summarization 1'!$B$114</c:f>
              <c:strCache>
                <c:ptCount val="1"/>
                <c:pt idx="0">
                  <c:v>Category 1 %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4.3658949160495206E-17"/>
                  <c:y val="7.9509283500446171E-2"/>
                </c:manualLayout>
              </c:layout>
              <c:tx>
                <c:rich>
                  <a:bodyPr/>
                  <a:lstStyle/>
                  <a:p>
                    <a:fld id="{A0E8A796-9349-4B42-9326-DB9FD16C9DF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4363-4000-8DEE-D2B8ABCC6646}"/>
                </c:ext>
              </c:extLst>
            </c:dLbl>
            <c:dLbl>
              <c:idx val="1"/>
              <c:layout>
                <c:manualLayout>
                  <c:x val="-7.0430861045064616E-2"/>
                  <c:y val="7.924495117664265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05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1248598-0359-49AB-AB17-00A877843053}" type="CELLRANGE">
                      <a:rPr lang="en-US"/>
                      <a:pPr>
                        <a:defRPr sz="1050"/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2941786922898925"/>
                      <c:h val="9.764931737283078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363-4000-8DEE-D2B8ABCC6646}"/>
                </c:ext>
              </c:extLst>
            </c:dLbl>
            <c:dLbl>
              <c:idx val="2"/>
              <c:layout>
                <c:manualLayout>
                  <c:x val="2.3814247370401239E-3"/>
                  <c:y val="7.9509283500446254E-2"/>
                </c:manualLayout>
              </c:layout>
              <c:tx>
                <c:rich>
                  <a:bodyPr/>
                  <a:lstStyle/>
                  <a:p>
                    <a:fld id="{AE532BCC-F210-4305-86E9-2931A5AE7FA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363-4000-8DEE-D2B8ABCC6646}"/>
                </c:ext>
              </c:extLst>
            </c:dLbl>
            <c:dLbl>
              <c:idx val="3"/>
              <c:layout>
                <c:manualLayout>
                  <c:x val="1.2806814700028615E-2"/>
                  <c:y val="7.9509283500446337E-2"/>
                </c:manualLayout>
              </c:layout>
              <c:tx>
                <c:rich>
                  <a:bodyPr/>
                  <a:lstStyle/>
                  <a:p>
                    <a:fld id="{B9D7814B-20EF-41CC-9E3E-3CF3833A094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363-4000-8DEE-D2B8ABCC66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'Summarization 1'!$A$115:$A$118</c:f>
              <c:strCache>
                <c:ptCount val="4"/>
                <c:pt idx="0">
                  <c:v>Gender</c:v>
                </c:pt>
                <c:pt idx="1">
                  <c:v>Senior Citizen</c:v>
                </c:pt>
                <c:pt idx="2">
                  <c:v>Partner</c:v>
                </c:pt>
                <c:pt idx="3">
                  <c:v>Dependents</c:v>
                </c:pt>
              </c:strCache>
            </c:strRef>
          </c:cat>
          <c:val>
            <c:numRef>
              <c:f>'Summarization 1'!$B$115:$B$118</c:f>
              <c:numCache>
                <c:formatCode>0.00%</c:formatCode>
                <c:ptCount val="4"/>
                <c:pt idx="0">
                  <c:v>0.50480000000000003</c:v>
                </c:pt>
                <c:pt idx="1">
                  <c:v>0.83699999999999997</c:v>
                </c:pt>
                <c:pt idx="2">
                  <c:v>0.51700000000000002</c:v>
                </c:pt>
                <c:pt idx="3">
                  <c:v>0.70040000000000002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'Summarization 1'!$B$121:$B$124</c15:f>
                <c15:dlblRangeCache>
                  <c:ptCount val="4"/>
                  <c:pt idx="0">
                    <c:v>Male - 50.48%</c:v>
                  </c:pt>
                  <c:pt idx="1">
                    <c:v>Non senior(0) - 83.70%</c:v>
                  </c:pt>
                  <c:pt idx="2">
                    <c:v>No - 51.70%</c:v>
                  </c:pt>
                  <c:pt idx="3">
                    <c:v>No - 70.04%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4363-4000-8DEE-D2B8ABCC6646}"/>
            </c:ext>
          </c:extLst>
        </c:ser>
        <c:ser>
          <c:idx val="1"/>
          <c:order val="1"/>
          <c:tx>
            <c:strRef>
              <c:f>'Summarization 1'!$C$114</c:f>
              <c:strCache>
                <c:ptCount val="1"/>
                <c:pt idx="0">
                  <c:v>Category 2 %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3.041647664404544E-2"/>
                  <c:y val="6.303501173013734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05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3E4DFF9-1934-4E6B-859A-D95C79B79305}" type="CELLRANGE">
                      <a:rPr lang="en-US"/>
                      <a:pPr>
                        <a:defRPr sz="1050"/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051229342366684"/>
                      <c:h val="0.1025836450156383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363-4000-8DEE-D2B8ABCC6646}"/>
                </c:ext>
              </c:extLst>
            </c:dLbl>
            <c:dLbl>
              <c:idx val="1"/>
              <c:layout>
                <c:manualLayout>
                  <c:x val="-9.8759035857563689E-3"/>
                  <c:y val="9.3385337710535823E-2"/>
                </c:manualLayout>
              </c:layout>
              <c:tx>
                <c:rich>
                  <a:bodyPr/>
                  <a:lstStyle/>
                  <a:p>
                    <a:fld id="{F1C98605-411E-4181-9A9F-8E72C2B665C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263412077421281"/>
                      <c:h val="0.11659153807797977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4363-4000-8DEE-D2B8ABCC6646}"/>
                </c:ext>
              </c:extLst>
            </c:dLbl>
            <c:dLbl>
              <c:idx val="2"/>
              <c:layout>
                <c:manualLayout>
                  <c:x val="3.2017078464279401E-3"/>
                  <c:y val="6.0700381666058192E-2"/>
                </c:manualLayout>
              </c:layout>
              <c:tx>
                <c:rich>
                  <a:bodyPr/>
                  <a:lstStyle/>
                  <a:p>
                    <a:fld id="{ABD0CC02-DBE8-45E7-9961-D3C54731537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4363-4000-8DEE-D2B8ABCC6646}"/>
                </c:ext>
              </c:extLst>
            </c:dLbl>
            <c:dLbl>
              <c:idx val="3"/>
              <c:layout>
                <c:manualLayout>
                  <c:x val="-1.173945982166082E-16"/>
                  <c:y val="6.0700381666058192E-2"/>
                </c:manualLayout>
              </c:layout>
              <c:tx>
                <c:rich>
                  <a:bodyPr/>
                  <a:lstStyle/>
                  <a:p>
                    <a:fld id="{674E586B-F696-42C1-8CAC-B167F6A1597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4363-4000-8DEE-D2B8ABCC66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'Summarization 1'!$A$115:$A$118</c:f>
              <c:strCache>
                <c:ptCount val="4"/>
                <c:pt idx="0">
                  <c:v>Gender</c:v>
                </c:pt>
                <c:pt idx="1">
                  <c:v>Senior Citizen</c:v>
                </c:pt>
                <c:pt idx="2">
                  <c:v>Partner</c:v>
                </c:pt>
                <c:pt idx="3">
                  <c:v>Dependents</c:v>
                </c:pt>
              </c:strCache>
            </c:strRef>
          </c:cat>
          <c:val>
            <c:numRef>
              <c:f>'Summarization 1'!$C$115:$C$118</c:f>
              <c:numCache>
                <c:formatCode>0.00%</c:formatCode>
                <c:ptCount val="4"/>
                <c:pt idx="0">
                  <c:v>0.49519999999999997</c:v>
                </c:pt>
                <c:pt idx="1">
                  <c:v>0.16300000000000001</c:v>
                </c:pt>
                <c:pt idx="2">
                  <c:v>0.48299999999999998</c:v>
                </c:pt>
                <c:pt idx="3">
                  <c:v>0.29959999999999998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'Summarization 1'!$C$121:$C$124</c15:f>
                <c15:dlblRangeCache>
                  <c:ptCount val="4"/>
                  <c:pt idx="0">
                    <c:v>Female - 49.52%</c:v>
                  </c:pt>
                  <c:pt idx="1">
                    <c:v>Senior(1) - 16.30%</c:v>
                  </c:pt>
                  <c:pt idx="2">
                    <c:v>Yes - 48.30%</c:v>
                  </c:pt>
                  <c:pt idx="3">
                    <c:v>Yes - 29.96%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9-4363-4000-8DEE-D2B8ABCC664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95044223"/>
        <c:axId val="295040895"/>
      </c:barChart>
      <c:catAx>
        <c:axId val="2950442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5040895"/>
        <c:crosses val="autoZero"/>
        <c:auto val="1"/>
        <c:lblAlgn val="ctr"/>
        <c:lblOffset val="100"/>
        <c:noMultiLvlLbl val="0"/>
      </c:catAx>
      <c:valAx>
        <c:axId val="295040895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2950442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25400" cap="flat" cmpd="sng" algn="ctr">
      <a:solidFill>
        <a:schemeClr val="tx1">
          <a:lumMod val="50000"/>
          <a:lumOff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/>
              <a:t>HIGHEST CHURN SEGMENTS</a:t>
            </a:r>
            <a:endParaRPr lang="en-US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6992520996164197"/>
          <c:y val="0.18060225160926457"/>
          <c:w val="0.58375980575057973"/>
          <c:h val="0.7658354737155693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'Summarization 1'!$G$121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71D-4490-B560-25C56AF0C8C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71D-4490-B560-25C56AF0C8C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71D-4490-B560-25C56AF0C8C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71D-4490-B560-25C56AF0C8C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'Summarization 1'!$F$122:$F$125</c:f>
              <c:strCache>
                <c:ptCount val="4"/>
                <c:pt idx="0">
                  <c:v>Senior Citizens</c:v>
                </c:pt>
                <c:pt idx="1">
                  <c:v>Customers Without Partners</c:v>
                </c:pt>
                <c:pt idx="2">
                  <c:v>Customers Without Dependents</c:v>
                </c:pt>
                <c:pt idx="3">
                  <c:v>Female Customers</c:v>
                </c:pt>
              </c:strCache>
            </c:strRef>
          </c:cat>
          <c:val>
            <c:numRef>
              <c:f>'Summarization 1'!$G$122:$G$125</c:f>
              <c:numCache>
                <c:formatCode>0.00%</c:formatCode>
                <c:ptCount val="4"/>
                <c:pt idx="0">
                  <c:v>0.4168</c:v>
                </c:pt>
                <c:pt idx="1">
                  <c:v>0.3296</c:v>
                </c:pt>
                <c:pt idx="2">
                  <c:v>0.31280000000000002</c:v>
                </c:pt>
                <c:pt idx="3">
                  <c:v>0.26919999999999999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71D-4490-B560-25C56AF0C8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59902576"/>
        <c:axId val="1659900080"/>
      </c:barChart>
      <c:valAx>
        <c:axId val="1659900080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1659902576"/>
        <c:crosses val="autoZero"/>
        <c:crossBetween val="between"/>
      </c:valAx>
      <c:catAx>
        <c:axId val="165990257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99000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25400" cap="flat" cmpd="sng" algn="ctr">
      <a:solidFill>
        <a:schemeClr val="tx1">
          <a:lumMod val="50000"/>
          <a:lumOff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="1" i="0" u="none" strike="noStrike" baseline="0"/>
              <a:t>RETENTION RATE BY CONTRACT TYPE </a:t>
            </a:r>
            <a:endParaRPr lang="en-US" sz="12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6315797855280314E-2"/>
          <c:y val="0.25805543051413993"/>
          <c:w val="0.91626794258373201"/>
          <c:h val="0.598246283782943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'Summarization 1'!$B$130</c:f>
              <c:strCache>
                <c:ptCount val="1"/>
                <c:pt idx="0">
                  <c:v>Retention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'Summarization 1'!$A$131:$A$133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'Summarization 1'!$B$131:$B$133</c:f>
              <c:numCache>
                <c:formatCode>0.00%</c:formatCode>
                <c:ptCount val="3"/>
                <c:pt idx="0">
                  <c:v>0.57289999999999996</c:v>
                </c:pt>
                <c:pt idx="1">
                  <c:v>0.88729999999999998</c:v>
                </c:pt>
                <c:pt idx="2">
                  <c:v>0.97170000000000001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4C-4EA3-808F-F0E051D206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59550895"/>
        <c:axId val="1759551311"/>
      </c:barChart>
      <c:catAx>
        <c:axId val="175955089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9551311"/>
        <c:crosses val="autoZero"/>
        <c:auto val="1"/>
        <c:lblAlgn val="ctr"/>
        <c:lblOffset val="100"/>
        <c:noMultiLvlLbl val="0"/>
      </c:catAx>
      <c:valAx>
        <c:axId val="1759551311"/>
        <c:scaling>
          <c:orientation val="minMax"/>
          <c:max val="1"/>
        </c:scaling>
        <c:delete val="1"/>
        <c:axPos val="l"/>
        <c:numFmt formatCode="0.00%" sourceLinked="1"/>
        <c:majorTickMark val="none"/>
        <c:minorTickMark val="none"/>
        <c:tickLblPos val="nextTo"/>
        <c:crossAx val="17595508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25400" cap="flat" cmpd="sng" algn="ctr">
      <a:solidFill>
        <a:schemeClr val="tx1">
          <a:lumMod val="50000"/>
          <a:lumOff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 i="0" u="none" strike="noStrike" baseline="0"/>
              <a:t>RETENTION RATE BY CUSTOMER TENURE</a:t>
            </a:r>
            <a:endParaRPr lang="en-US" sz="1100" b="1"/>
          </a:p>
        </c:rich>
      </c:tx>
      <c:layout>
        <c:manualLayout>
          <c:xMode val="edge"/>
          <c:yMode val="edge"/>
          <c:x val="0.291487609294237"/>
          <c:y val="2.59740259740259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351359837689"/>
          <c:y val="0.16521934758155229"/>
          <c:w val="0.755906961016376"/>
          <c:h val="0.7773611111111110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'Summarization 2'!$B$200:$B$201</c:f>
              <c:strCache>
                <c:ptCount val="2"/>
                <c:pt idx="0">
                  <c:v>Q4</c:v>
                </c:pt>
                <c:pt idx="1">
                  <c:v>Retention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454555993000874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F04-402E-84B7-1021FD570011}"/>
                </c:ext>
              </c:extLst>
            </c:dLbl>
            <c:dLbl>
              <c:idx val="1"/>
              <c:layout>
                <c:manualLayout>
                  <c:x val="0.3241001749781277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F04-402E-84B7-1021FD570011}"/>
                </c:ext>
              </c:extLst>
            </c:dLbl>
            <c:dLbl>
              <c:idx val="2"/>
              <c:layout>
                <c:manualLayout>
                  <c:x val="0.35172790901137346"/>
                  <c:y val="-4.62962962962954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F04-402E-84B7-1021FD570011}"/>
                </c:ext>
              </c:extLst>
            </c:dLbl>
            <c:dLbl>
              <c:idx val="3"/>
              <c:layout>
                <c:manualLayout>
                  <c:x val="0.3618737970253717"/>
                  <c:y val="-4.629629629629629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F04-402E-84B7-1021FD570011}"/>
                </c:ext>
              </c:extLst>
            </c:dLbl>
            <c:dLbl>
              <c:idx val="4"/>
              <c:layout>
                <c:manualLayout>
                  <c:x val="0.37708530183727046"/>
                  <c:y val="-4.243778136006664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F04-402E-84B7-1021FD570011}"/>
                </c:ext>
              </c:extLst>
            </c:dLbl>
            <c:dLbl>
              <c:idx val="5"/>
              <c:layout>
                <c:manualLayout>
                  <c:x val="0.40073015796338329"/>
                  <c:y val="4.629818999897710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F04-402E-84B7-1021FD5700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'Summarization 2'!$A$202:$A$207</c:f>
              <c:strCache>
                <c:ptCount val="6"/>
                <c:pt idx="0">
                  <c:v>0–12 Months</c:v>
                </c:pt>
                <c:pt idx="1">
                  <c:v>13–24 Months</c:v>
                </c:pt>
                <c:pt idx="2">
                  <c:v>25–36 Months</c:v>
                </c:pt>
                <c:pt idx="3">
                  <c:v>37–48 Months</c:v>
                </c:pt>
                <c:pt idx="4">
                  <c:v>49–60 Months</c:v>
                </c:pt>
                <c:pt idx="5">
                  <c:v>61–72 Months</c:v>
                </c:pt>
              </c:strCache>
            </c:strRef>
          </c:cat>
          <c:val>
            <c:numRef>
              <c:f>'Summarization 2'!$B$202:$B$207</c:f>
              <c:numCache>
                <c:formatCode>0.00%</c:formatCode>
                <c:ptCount val="6"/>
                <c:pt idx="0">
                  <c:v>0.52559999999999996</c:v>
                </c:pt>
                <c:pt idx="1">
                  <c:v>0.71289999999999998</c:v>
                </c:pt>
                <c:pt idx="2">
                  <c:v>0.78369999999999995</c:v>
                </c:pt>
                <c:pt idx="3">
                  <c:v>0.80969999999999998</c:v>
                </c:pt>
                <c:pt idx="4">
                  <c:v>0.85580000000000001</c:v>
                </c:pt>
                <c:pt idx="5">
                  <c:v>0.93389999999999995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F04-402E-84B7-1021FD57001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97498079"/>
        <c:axId val="597498911"/>
      </c:barChart>
      <c:catAx>
        <c:axId val="59749807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7498911"/>
        <c:crosses val="autoZero"/>
        <c:auto val="1"/>
        <c:lblAlgn val="ctr"/>
        <c:lblOffset val="100"/>
        <c:noMultiLvlLbl val="0"/>
      </c:catAx>
      <c:valAx>
        <c:axId val="597498911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597498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25400" cap="flat" cmpd="sng" algn="ctr">
      <a:solidFill>
        <a:schemeClr val="tx1">
          <a:lumMod val="50000"/>
          <a:lumOff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 i="0" u="none" strike="noStrike" baseline="0"/>
              <a:t>CHURN RATE BY SERVICE FEATURES</a:t>
            </a:r>
            <a:endParaRPr lang="en-US" sz="11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50101909433185665"/>
          <c:y val="0.25556350126469202"/>
          <c:w val="0.45290728814051234"/>
          <c:h val="0.6603444103742067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'Summarization 2'!$B$209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'Summarization 2'!$A$210:$A$214</c:f>
              <c:strCache>
                <c:ptCount val="5"/>
                <c:pt idx="0">
                  <c:v>Internet Service — Fiber optic    </c:v>
                </c:pt>
                <c:pt idx="1">
                  <c:v>Online Security — No </c:v>
                </c:pt>
                <c:pt idx="2">
                  <c:v>Tech Support — No     </c:v>
                </c:pt>
                <c:pt idx="3">
                  <c:v>Online Backup — No  </c:v>
                </c:pt>
                <c:pt idx="4">
                  <c:v>Device Protection — No   </c:v>
                </c:pt>
              </c:strCache>
            </c:strRef>
          </c:cat>
          <c:val>
            <c:numRef>
              <c:f>'Summarization 2'!$B$210:$B$214</c:f>
              <c:numCache>
                <c:formatCode>0.00%</c:formatCode>
                <c:ptCount val="5"/>
                <c:pt idx="0">
                  <c:v>0.41889999999999999</c:v>
                </c:pt>
                <c:pt idx="1">
                  <c:v>0.41770000000000002</c:v>
                </c:pt>
                <c:pt idx="2">
                  <c:v>0.41639999999999999</c:v>
                </c:pt>
                <c:pt idx="3">
                  <c:v>0.39929999999999999</c:v>
                </c:pt>
                <c:pt idx="4">
                  <c:v>0.39129999999999998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D9-4C99-B2EC-BD8EF6D9E0D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67796207"/>
        <c:axId val="2067815343"/>
      </c:barChart>
      <c:catAx>
        <c:axId val="206779620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7815343"/>
        <c:crosses val="autoZero"/>
        <c:auto val="1"/>
        <c:lblAlgn val="ctr"/>
        <c:lblOffset val="100"/>
        <c:noMultiLvlLbl val="0"/>
      </c:catAx>
      <c:valAx>
        <c:axId val="2067815343"/>
        <c:scaling>
          <c:orientation val="minMax"/>
        </c:scaling>
        <c:delete val="1"/>
        <c:axPos val="t"/>
        <c:numFmt formatCode="0.00%" sourceLinked="1"/>
        <c:majorTickMark val="none"/>
        <c:minorTickMark val="none"/>
        <c:tickLblPos val="nextTo"/>
        <c:crossAx val="20677962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25400" cap="flat" cmpd="sng" algn="ctr">
      <a:solidFill>
        <a:schemeClr val="tx1">
          <a:lumMod val="50000"/>
          <a:lumOff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="1" i="0" u="none" strike="noStrike" baseline="0"/>
              <a:t>CHURN RATE BY PAYMENT METHOD</a:t>
            </a:r>
            <a:endParaRPr lang="en-US" sz="11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46230635514974822"/>
          <c:y val="0.26397203106774869"/>
          <c:w val="0.48070738347506109"/>
          <c:h val="0.6491690894304494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'Summarization 2'!$B$232:$B$233</c:f>
              <c:strCache>
                <c:ptCount val="2"/>
                <c:pt idx="0">
                  <c:v>Q6</c:v>
                </c:pt>
                <c:pt idx="1">
                  <c:v>Churn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'Summarization 2'!$A$234:$A$237</c:f>
              <c:strCache>
                <c:ptCount val="4"/>
                <c:pt idx="0">
                  <c:v>Electronic check</c:v>
                </c:pt>
                <c:pt idx="1">
                  <c:v>Mailed check</c:v>
                </c:pt>
                <c:pt idx="2">
                  <c:v>Bank transfer (automatic)</c:v>
                </c:pt>
                <c:pt idx="3">
                  <c:v>Credit card (automatic)</c:v>
                </c:pt>
              </c:strCache>
            </c:strRef>
          </c:cat>
          <c:val>
            <c:numRef>
              <c:f>'Summarization 2'!$B$234:$B$237</c:f>
              <c:numCache>
                <c:formatCode>0.00%</c:formatCode>
                <c:ptCount val="4"/>
                <c:pt idx="0">
                  <c:v>0.45290000000000002</c:v>
                </c:pt>
                <c:pt idx="1">
                  <c:v>0.19109999999999999</c:v>
                </c:pt>
                <c:pt idx="2">
                  <c:v>0.1671</c:v>
                </c:pt>
                <c:pt idx="3">
                  <c:v>0.15240000000000001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B7-4D00-9013-772EC02B7AB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67820751"/>
        <c:axId val="2067822415"/>
      </c:barChart>
      <c:catAx>
        <c:axId val="206782075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7822415"/>
        <c:crosses val="autoZero"/>
        <c:auto val="1"/>
        <c:lblAlgn val="ctr"/>
        <c:lblOffset val="100"/>
        <c:noMultiLvlLbl val="0"/>
      </c:catAx>
      <c:valAx>
        <c:axId val="2067822415"/>
        <c:scaling>
          <c:orientation val="minMax"/>
        </c:scaling>
        <c:delete val="1"/>
        <c:axPos val="t"/>
        <c:numFmt formatCode="0.00%" sourceLinked="1"/>
        <c:majorTickMark val="none"/>
        <c:minorTickMark val="none"/>
        <c:tickLblPos val="nextTo"/>
        <c:crossAx val="2067820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25400" cap="flat" cmpd="sng" algn="ctr">
      <a:solidFill>
        <a:schemeClr val="tx1">
          <a:lumMod val="50000"/>
          <a:lumOff val="50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275" y="123371"/>
            <a:ext cx="3041954" cy="45629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64457"/>
            <a:ext cx="4722763" cy="135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effectLst/>
                <a:ea typeface="Times New Roman" panose="02020603050405020304" pitchFamily="18" charset="0"/>
                <a:cs typeface="Alexandria" panose="020B0604020202020204" charset="-78"/>
              </a:rPr>
              <a:t>BUSINESS ANALYTICS REPORT</a:t>
            </a:r>
            <a:endParaRPr lang="en-US" sz="2800" b="1" dirty="0">
              <a:solidFill>
                <a:srgbClr val="1B1B27"/>
              </a:solidFill>
              <a:ea typeface="Alexandria" pitchFamily="34" charset="-122"/>
              <a:cs typeface="Alexandria" panose="020B0604020202020204" charset="-78"/>
            </a:endParaRP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B1B27"/>
                </a:solidFill>
                <a:ea typeface="Alexandria" pitchFamily="34" charset="-122"/>
                <a:cs typeface="Alexandria" pitchFamily="34" charset="-120"/>
              </a:rPr>
              <a:t>   Customer Behaviour &amp; Business Performance Analysis</a:t>
            </a:r>
            <a:endParaRPr lang="en-US" sz="2800" b="1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6CC5631A-A133-4E59-9DED-F785B7F3C534}"/>
              </a:ext>
            </a:extLst>
          </p:cNvPr>
          <p:cNvSpPr/>
          <p:nvPr/>
        </p:nvSpPr>
        <p:spPr>
          <a:xfrm>
            <a:off x="496119" y="2404836"/>
            <a:ext cx="4722763" cy="2210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600" b="1" dirty="0">
                <a:effectLst/>
                <a:ea typeface="Times New Roman" panose="02020603050405020304" pitchFamily="18" charset="0"/>
                <a:cs typeface="Alexandria" panose="020B0604020202020204" charset="-78"/>
              </a:rPr>
              <a:t>Company: </a:t>
            </a:r>
            <a:r>
              <a:rPr lang="en-US" sz="1600" dirty="0">
                <a:effectLst/>
                <a:ea typeface="Times New Roman" panose="02020603050405020304" pitchFamily="18" charset="0"/>
                <a:cs typeface="Alexandria" panose="020B0604020202020204" charset="-78"/>
              </a:rPr>
              <a:t>ABC Communications Ltd</a:t>
            </a:r>
          </a:p>
          <a:p>
            <a:pPr marL="0" marR="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600" b="1" dirty="0">
                <a:effectLst/>
                <a:ea typeface="Times New Roman" panose="02020603050405020304" pitchFamily="18" charset="0"/>
                <a:cs typeface="Alexandria" panose="020B0604020202020204" charset="-78"/>
              </a:rPr>
              <a:t>Project no.: </a:t>
            </a:r>
            <a:r>
              <a:rPr lang="en-US" sz="1600" dirty="0">
                <a:effectLst/>
                <a:ea typeface="Times New Roman" panose="02020603050405020304" pitchFamily="18" charset="0"/>
                <a:cs typeface="Alexandria" panose="020B0604020202020204" charset="-78"/>
              </a:rPr>
              <a:t>Project 1</a:t>
            </a:r>
          </a:p>
          <a:p>
            <a:pPr marL="0" marR="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600" b="1" dirty="0">
                <a:effectLst/>
                <a:ea typeface="Times New Roman" panose="02020603050405020304" pitchFamily="18" charset="0"/>
                <a:cs typeface="Alexandria" panose="020B0604020202020204" charset="-78"/>
              </a:rPr>
              <a:t>Role: </a:t>
            </a:r>
            <a:r>
              <a:rPr lang="en-US" sz="1600" dirty="0">
                <a:effectLst/>
                <a:ea typeface="Times New Roman" panose="02020603050405020304" pitchFamily="18" charset="0"/>
                <a:cs typeface="Alexandria" panose="020B0604020202020204" charset="-78"/>
              </a:rPr>
              <a:t>Junior Data Analyst (AnalystLab Africa)</a:t>
            </a:r>
            <a:r>
              <a:rPr lang="en-US" sz="1600" b="1" dirty="0">
                <a:effectLst/>
                <a:ea typeface="Times New Roman" panose="02020603050405020304" pitchFamily="18" charset="0"/>
                <a:cs typeface="Alexandria" panose="020B0604020202020204" charset="-78"/>
              </a:rPr>
              <a:t> </a:t>
            </a:r>
            <a:endParaRPr lang="en-US" sz="1600" dirty="0">
              <a:effectLst/>
              <a:ea typeface="Times New Roman" panose="02020603050405020304" pitchFamily="18" charset="0"/>
              <a:cs typeface="Alexandria" panose="020B0604020202020204" charset="-78"/>
            </a:endParaRPr>
          </a:p>
          <a:p>
            <a:pPr marL="0" marR="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600" b="1" dirty="0">
                <a:effectLst/>
                <a:ea typeface="Times New Roman" panose="02020603050405020304" pitchFamily="18" charset="0"/>
                <a:cs typeface="Alexandria" panose="020B0604020202020204" charset="-78"/>
              </a:rPr>
              <a:t>Prepared for: </a:t>
            </a:r>
            <a:r>
              <a:rPr lang="en-US" sz="1600" dirty="0">
                <a:effectLst/>
                <a:ea typeface="Times New Roman" panose="02020603050405020304" pitchFamily="18" charset="0"/>
                <a:cs typeface="Alexandria" panose="020B0604020202020204" charset="-78"/>
              </a:rPr>
              <a:t>Management </a:t>
            </a:r>
          </a:p>
          <a:p>
            <a:pPr marL="0" marR="0">
              <a:lnSpc>
                <a:spcPct val="17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600" b="1" dirty="0">
                <a:effectLst/>
                <a:ea typeface="Times New Roman" panose="02020603050405020304" pitchFamily="18" charset="0"/>
                <a:cs typeface="Alexandria" panose="020B0604020202020204" charset="-78"/>
              </a:rPr>
              <a:t>Prepared by: </a:t>
            </a:r>
            <a:r>
              <a:rPr lang="en-US" sz="1600" dirty="0">
                <a:effectLst/>
                <a:ea typeface="Times New Roman" panose="02020603050405020304" pitchFamily="18" charset="0"/>
                <a:cs typeface="Alexandria" panose="020B0604020202020204" charset="-78"/>
              </a:rPr>
              <a:t>Samson Oluwatimilehin Arawande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6" y="519769"/>
            <a:ext cx="3179627" cy="453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B1B27"/>
                </a:solidFill>
                <a:ea typeface="Alexandria" pitchFamily="34" charset="-122"/>
                <a:cs typeface="Alexandria" pitchFamily="34" charset="-120"/>
              </a:rPr>
              <a:t>Executive Summary</a:t>
            </a:r>
            <a:endParaRPr lang="en-US" sz="2800" b="1" dirty="0"/>
          </a:p>
        </p:txBody>
      </p:sp>
      <p:sp>
        <p:nvSpPr>
          <p:cNvPr id="4" name="Text 1"/>
          <p:cNvSpPr/>
          <p:nvPr/>
        </p:nvSpPr>
        <p:spPr>
          <a:xfrm>
            <a:off x="3925116" y="1109315"/>
            <a:ext cx="5030198" cy="1648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The telecommunications industry operates in a highly competitive environment where </a:t>
            </a:r>
            <a:r>
              <a:rPr lang="en-US" sz="1200" b="1" dirty="0">
                <a:solidFill>
                  <a:srgbClr val="404155"/>
                </a:solidFill>
                <a:ea typeface="Nobile Bold" pitchFamily="34" charset="-122"/>
                <a:cs typeface="Nobile Bold" pitchFamily="34" charset="-120"/>
              </a:rPr>
              <a:t>customer retention is critical</a:t>
            </a: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to maintaining stable revenue and long-term growth. Understanding customer behavior and the factors associated with churn enables businesses to improve retention and strengthen customer relationships.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925118" y="3234670"/>
            <a:ext cx="4722763" cy="1247402"/>
          </a:xfrm>
          <a:prstGeom prst="roundRect">
            <a:avLst>
              <a:gd name="adj" fmla="val 4773"/>
            </a:avLst>
          </a:prstGeom>
          <a:solidFill>
            <a:srgbClr val="D2DDF9"/>
          </a:solidFill>
          <a:ln/>
        </p:spPr>
        <p:txBody>
          <a:bodyPr numCol="1"/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3925120" y="3234671"/>
            <a:ext cx="4722762" cy="1247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This project analyzes customer churn within a telecommunications customer base to identify patterns that support better retention decisions for ABC Communications Ltd.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400" y="78063"/>
            <a:ext cx="6337313" cy="486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28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Problem Statement &amp; Business Objectives</a:t>
            </a:r>
            <a:endParaRPr lang="en-US" sz="2800" b="1" dirty="0"/>
          </a:p>
        </p:txBody>
      </p:sp>
      <p:sp>
        <p:nvSpPr>
          <p:cNvPr id="3" name="Text 1"/>
          <p:cNvSpPr/>
          <p:nvPr/>
        </p:nvSpPr>
        <p:spPr>
          <a:xfrm>
            <a:off x="477143" y="761925"/>
            <a:ext cx="1572167" cy="276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Business Problem</a:t>
            </a:r>
            <a:endParaRPr lang="en-US" sz="1400" b="1" dirty="0"/>
          </a:p>
        </p:txBody>
      </p:sp>
      <p:sp>
        <p:nvSpPr>
          <p:cNvPr id="4" name="Text 2"/>
          <p:cNvSpPr/>
          <p:nvPr/>
        </p:nvSpPr>
        <p:spPr>
          <a:xfrm>
            <a:off x="477142" y="1191315"/>
            <a:ext cx="3919165" cy="1375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ABC Communications Ltd is experiencing customer churn and needs to understand the patterns and customer characteristics associated with customers leaving the business.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7143" y="2543171"/>
            <a:ext cx="1499595" cy="325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B1B27"/>
                </a:solidFill>
                <a:ea typeface="Alexandria" pitchFamily="34" charset="-122"/>
                <a:cs typeface="Alexandria" pitchFamily="34" charset="-120"/>
              </a:rPr>
              <a:t>Business Objective</a:t>
            </a:r>
            <a:endParaRPr lang="en-US" sz="1400" b="1" dirty="0"/>
          </a:p>
        </p:txBody>
      </p:sp>
      <p:sp>
        <p:nvSpPr>
          <p:cNvPr id="6" name="Text 4"/>
          <p:cNvSpPr/>
          <p:nvPr/>
        </p:nvSpPr>
        <p:spPr>
          <a:xfrm>
            <a:off x="477143" y="2930588"/>
            <a:ext cx="3919165" cy="1188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Analyze churn data, identify trends and patterns, and provide actionable insights to support more effective </a:t>
            </a:r>
            <a:r>
              <a:rPr lang="en-US" sz="1200" b="1" dirty="0">
                <a:solidFill>
                  <a:srgbClr val="404155"/>
                </a:solidFill>
                <a:ea typeface="Nobile Bold" pitchFamily="34" charset="-122"/>
                <a:cs typeface="Nobile Bold" pitchFamily="34" charset="-120"/>
              </a:rPr>
              <a:t>customer retention strategies</a:t>
            </a: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03192" y="1583440"/>
            <a:ext cx="3432379" cy="801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8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Key Business Questions</a:t>
            </a:r>
            <a:endParaRPr lang="en-US" sz="2800" b="1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500" y="2622545"/>
            <a:ext cx="192658" cy="1926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57690" y="2456724"/>
            <a:ext cx="2164584" cy="305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Who are our customers?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8045" y="2884334"/>
            <a:ext cx="192658" cy="1926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57690" y="2718874"/>
            <a:ext cx="2868202" cy="330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Which customer segments have the highest churn?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500" y="3137418"/>
            <a:ext cx="192658" cy="1926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57690" y="2993836"/>
            <a:ext cx="2723384" cy="330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Does contract type influence retention?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500" y="3449737"/>
            <a:ext cx="192658" cy="19265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57690" y="3289816"/>
            <a:ext cx="3020927" cy="330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Does customer tenure influence retention?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9198" y="3781303"/>
            <a:ext cx="192658" cy="19265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757690" y="3615173"/>
            <a:ext cx="3376527" cy="330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Which service features are associated with churn?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8045" y="4118754"/>
            <a:ext cx="192658" cy="19265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757690" y="3946094"/>
            <a:ext cx="2827186" cy="408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Which payment methods have higher churn?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494" y="-108275"/>
            <a:ext cx="4075880" cy="809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8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Dataset &amp; Data Preparation</a:t>
            </a:r>
            <a:endParaRPr lang="en-US" sz="2800" b="1" dirty="0"/>
          </a:p>
        </p:txBody>
      </p:sp>
      <p:sp>
        <p:nvSpPr>
          <p:cNvPr id="4" name="Text 1"/>
          <p:cNvSpPr/>
          <p:nvPr/>
        </p:nvSpPr>
        <p:spPr>
          <a:xfrm>
            <a:off x="431752" y="946482"/>
            <a:ext cx="2340478" cy="406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Telco Customer Churn Dataset</a:t>
            </a:r>
            <a:endParaRPr lang="en-US" sz="1400" b="1" dirty="0"/>
          </a:p>
        </p:txBody>
      </p:sp>
      <p:sp>
        <p:nvSpPr>
          <p:cNvPr id="5" name="Text 2"/>
          <p:cNvSpPr/>
          <p:nvPr/>
        </p:nvSpPr>
        <p:spPr>
          <a:xfrm>
            <a:off x="496119" y="3212938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96119" y="3447380"/>
            <a:ext cx="4011513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7" name="Text 4"/>
          <p:cNvSpPr/>
          <p:nvPr/>
        </p:nvSpPr>
        <p:spPr>
          <a:xfrm>
            <a:off x="496119" y="3428713"/>
            <a:ext cx="4075880" cy="353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Reviewed structure; checked completeness and consistency.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36368" y="3196737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36367" y="3447380"/>
            <a:ext cx="4011513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0" name="Text 7"/>
          <p:cNvSpPr/>
          <p:nvPr/>
        </p:nvSpPr>
        <p:spPr>
          <a:xfrm>
            <a:off x="4636367" y="3518408"/>
            <a:ext cx="4384261" cy="62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Standardized categorical labels; converted fields to analytical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formats.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6118" y="3914068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6120" y="4157042"/>
            <a:ext cx="4011513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3" name="Text 10"/>
          <p:cNvSpPr/>
          <p:nvPr/>
        </p:nvSpPr>
        <p:spPr>
          <a:xfrm>
            <a:off x="496118" y="4273185"/>
            <a:ext cx="4011513" cy="664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Grouped customers by tenure, demographics, service,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contract, and payment.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36368" y="3947665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36368" y="4166567"/>
            <a:ext cx="4011513" cy="1905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6" name="Text 13"/>
          <p:cNvSpPr/>
          <p:nvPr/>
        </p:nvSpPr>
        <p:spPr>
          <a:xfrm>
            <a:off x="4636368" y="4278086"/>
            <a:ext cx="4442318" cy="56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Calculated churn rates; prepared PivotTables and dashboard data.</a:t>
            </a:r>
            <a:endParaRPr lang="en-US" sz="120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E869D053-ADF6-43D9-97F0-CA1192EB7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368" y="859036"/>
            <a:ext cx="3861867" cy="2188369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ED4948AC-9CFF-47D5-80D2-B1283FBCB8FE}"/>
              </a:ext>
            </a:extLst>
          </p:cNvPr>
          <p:cNvSpPr/>
          <p:nvPr/>
        </p:nvSpPr>
        <p:spPr>
          <a:xfrm>
            <a:off x="431752" y="1411023"/>
            <a:ext cx="3814622" cy="119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04155"/>
                </a:solidFill>
                <a:ea typeface="Nobile Bold" pitchFamily="34" charset="-122"/>
                <a:cs typeface="Nobile Bold" pitchFamily="34" charset="-120"/>
              </a:rPr>
              <a:t>7,043 customer records</a:t>
            </a: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covering demographics, account info, services, contract details, payment methods, charges, and churn status.</a:t>
            </a:r>
            <a:endParaRPr lang="en-US" sz="12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243FCF03-F795-463C-AE9A-44F000D12375}"/>
              </a:ext>
            </a:extLst>
          </p:cNvPr>
          <p:cNvSpPr/>
          <p:nvPr/>
        </p:nvSpPr>
        <p:spPr>
          <a:xfrm>
            <a:off x="431752" y="2759940"/>
            <a:ext cx="1636534" cy="406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Preparation Steps</a:t>
            </a:r>
            <a:endParaRPr lang="en-US" sz="1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328" y="72571"/>
            <a:ext cx="3868872" cy="476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Overall Customer Profile</a:t>
            </a:r>
            <a:endParaRPr lang="en-US" sz="2800" b="1" dirty="0"/>
          </a:p>
        </p:txBody>
      </p:sp>
      <p:sp>
        <p:nvSpPr>
          <p:cNvPr id="11" name="Text 9"/>
          <p:cNvSpPr/>
          <p:nvPr/>
        </p:nvSpPr>
        <p:spPr>
          <a:xfrm>
            <a:off x="496119" y="3163467"/>
            <a:ext cx="2290624" cy="318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Customer Demographics</a:t>
            </a:r>
            <a:endParaRPr lang="en-US" sz="1400" b="1" dirty="0"/>
          </a:p>
        </p:txBody>
      </p:sp>
      <p:sp>
        <p:nvSpPr>
          <p:cNvPr id="12" name="Text 10"/>
          <p:cNvSpPr/>
          <p:nvPr/>
        </p:nvSpPr>
        <p:spPr>
          <a:xfrm>
            <a:off x="491356" y="3507730"/>
            <a:ext cx="3902943" cy="1241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Male: 50.48% · Female: 49.52%</a:t>
            </a:r>
            <a:endParaRPr lang="en-US" sz="1200" dirty="0"/>
          </a:p>
          <a:p>
            <a:pPr marL="223520" indent="-223520" algn="l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Non-Senior Citizens: 83.70% · Senior Citizens: 16.30%</a:t>
            </a:r>
            <a:endParaRPr lang="en-US" sz="1200" dirty="0"/>
          </a:p>
          <a:p>
            <a:pPr marL="223520" indent="-223520" algn="l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Without Partner: 51.70% · With Partner: 48.30%</a:t>
            </a:r>
            <a:endParaRPr lang="en-US" sz="1200" dirty="0"/>
          </a:p>
          <a:p>
            <a:pPr marL="223520" indent="-223520" algn="l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Without Dependents: 70.04% · With Dependents: 29.96%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5478" y="3247525"/>
            <a:ext cx="2988008" cy="318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Highest Demographic Churn Segments</a:t>
            </a:r>
            <a:endParaRPr lang="en-US" sz="1400" b="1" dirty="0"/>
          </a:p>
        </p:txBody>
      </p:sp>
      <p:sp>
        <p:nvSpPr>
          <p:cNvPr id="14" name="Text 12"/>
          <p:cNvSpPr/>
          <p:nvPr/>
        </p:nvSpPr>
        <p:spPr>
          <a:xfrm>
            <a:off x="5035829" y="3553421"/>
            <a:ext cx="2915438" cy="1195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Senior Citizens</a:t>
            </a:r>
            <a:endParaRPr lang="en-US" sz="1200" dirty="0"/>
          </a:p>
          <a:p>
            <a:pPr marL="223520" indent="-223520" algn="l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Without Partner</a:t>
            </a:r>
            <a:endParaRPr lang="en-US" sz="1200" dirty="0"/>
          </a:p>
          <a:p>
            <a:pPr marL="223520" indent="-223520" algn="l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Without Dependents</a:t>
            </a:r>
            <a:endParaRPr lang="en-US" sz="1200" dirty="0"/>
          </a:p>
          <a:p>
            <a:pPr marL="223520" indent="-223520" algn="l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Female</a:t>
            </a:r>
            <a:endParaRPr lang="en-US" sz="1200" dirty="0"/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2A8DA840-50DB-4BE0-A46D-02D4DE9496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5727493"/>
              </p:ext>
            </p:extLst>
          </p:nvPr>
        </p:nvGraphicFramePr>
        <p:xfrm>
          <a:off x="144328" y="715715"/>
          <a:ext cx="4340586" cy="2280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BC570C0A-5299-40A8-9EC8-943D1351C2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4041463"/>
              </p:ext>
            </p:extLst>
          </p:nvPr>
        </p:nvGraphicFramePr>
        <p:xfrm>
          <a:off x="4943110" y="715715"/>
          <a:ext cx="4056562" cy="2280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07EEF9-79D6-4492-AF25-C8268DE76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254" y="67910"/>
            <a:ext cx="5931205" cy="487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88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199704"/>
            <a:ext cx="5179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Contract, Tenure, Services &amp; Payment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4140137" y="2125824"/>
            <a:ext cx="2290465" cy="1466627"/>
          </a:xfrm>
          <a:prstGeom prst="roundRect">
            <a:avLst>
              <a:gd name="adj" fmla="val 406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42481" y="1838436"/>
            <a:ext cx="2285776" cy="177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  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 </a:t>
            </a:r>
            <a:r>
              <a:rPr lang="en-US" sz="14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Contract Type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Month-to-month customers show weaker    retention than those on longer-term contracts. Contract commitment is strongly associated with higher retention.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515100" y="2129796"/>
            <a:ext cx="2290539" cy="1466627"/>
          </a:xfrm>
          <a:prstGeom prst="roundRect">
            <a:avLst>
              <a:gd name="adj" fmla="val 406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5100" y="2143267"/>
            <a:ext cx="2290539" cy="1466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 </a:t>
            </a:r>
            <a:r>
              <a:rPr lang="en-US" sz="14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Customer Tenure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</a:t>
            </a: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Retention generally improves as customer tenure increases. Loyalty strengthens with longer relationships.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42481" y="3751920"/>
            <a:ext cx="4722763" cy="922362"/>
          </a:xfrm>
          <a:prstGeom prst="roundRect">
            <a:avLst>
              <a:gd name="adj" fmla="val 6455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40138" y="3755893"/>
            <a:ext cx="4725106" cy="918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 </a:t>
            </a:r>
            <a:r>
              <a:rPr lang="en-US" sz="14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Services &amp; Payment</a:t>
            </a:r>
          </a:p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Churn varies across service configurations. </a:t>
            </a:r>
            <a:r>
              <a:rPr lang="en-US" sz="1200" b="1" dirty="0">
                <a:solidFill>
                  <a:srgbClr val="404155"/>
                </a:solidFill>
                <a:ea typeface="Nobile Bold" pitchFamily="34" charset="-122"/>
                <a:cs typeface="Nobile Bold" pitchFamily="34" charset="-120"/>
              </a:rPr>
              <a:t>Electronic Check</a:t>
            </a: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customers record the highest churn among all payment methods analyzed.</a:t>
            </a:r>
            <a:endParaRPr lang="en-US" sz="120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1A4469A-73E6-497C-AE08-5DFFBD20FF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0906702"/>
              </p:ext>
            </p:extLst>
          </p:nvPr>
        </p:nvGraphicFramePr>
        <p:xfrm>
          <a:off x="191316" y="140615"/>
          <a:ext cx="3342911" cy="16083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B88D3FF0-A7C7-4104-97B4-F5476475CF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4917690"/>
              </p:ext>
            </p:extLst>
          </p:nvPr>
        </p:nvGraphicFramePr>
        <p:xfrm>
          <a:off x="3679625" y="140615"/>
          <a:ext cx="5071918" cy="16083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B45EC4D-C4A2-45A2-8EB3-255371AADE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923905"/>
              </p:ext>
            </p:extLst>
          </p:nvPr>
        </p:nvGraphicFramePr>
        <p:xfrm>
          <a:off x="191316" y="1838436"/>
          <a:ext cx="3342911" cy="1466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F73A4B6-11F4-45F3-9D39-8908812B3D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0268962"/>
              </p:ext>
            </p:extLst>
          </p:nvPr>
        </p:nvGraphicFramePr>
        <p:xfrm>
          <a:off x="191316" y="3414495"/>
          <a:ext cx="3342911" cy="16083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5338"/>
            <a:ext cx="324856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1B1B27"/>
                </a:solidFill>
                <a:ea typeface="Alexandria" pitchFamily="34" charset="-122"/>
                <a:cs typeface="Alexandria" pitchFamily="34" charset="-120"/>
              </a:rPr>
              <a:t>Business Insights</a:t>
            </a:r>
            <a:endParaRPr lang="en-US" sz="28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334095"/>
            <a:ext cx="2622724" cy="1530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494904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ea typeface="Alexandria" pitchFamily="34" charset="-122"/>
                <a:cs typeface="Alexandria" pitchFamily="34" charset="-120"/>
              </a:rPr>
              <a:t>Churn is Significant</a:t>
            </a:r>
            <a:endParaRPr lang="en-US" sz="1400" b="1" dirty="0"/>
          </a:p>
        </p:txBody>
      </p:sp>
      <p:sp>
        <p:nvSpPr>
          <p:cNvPr id="5" name="Text 2"/>
          <p:cNvSpPr/>
          <p:nvPr/>
        </p:nvSpPr>
        <p:spPr>
          <a:xfrm>
            <a:off x="733127" y="1801416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26.54% of customers have churned — 1,869 customers lost.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334095"/>
            <a:ext cx="2622724" cy="15300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494904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ea typeface="Alexandria" pitchFamily="34" charset="-122"/>
                <a:cs typeface="Alexandria" pitchFamily="34" charset="-120"/>
              </a:rPr>
              <a:t>Senior Citizens at Highest Risk</a:t>
            </a:r>
            <a:endParaRPr lang="en-US" sz="1400" b="1" dirty="0"/>
          </a:p>
        </p:txBody>
      </p:sp>
      <p:sp>
        <p:nvSpPr>
          <p:cNvPr id="8" name="Text 4"/>
          <p:cNvSpPr/>
          <p:nvPr/>
        </p:nvSpPr>
        <p:spPr>
          <a:xfrm>
            <a:off x="3459510" y="1792288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Churn rate of </a:t>
            </a:r>
            <a:r>
              <a:rPr lang="en-US" sz="1200" b="1" dirty="0">
                <a:solidFill>
                  <a:srgbClr val="404155"/>
                </a:solidFill>
                <a:ea typeface="Nobile Bold" pitchFamily="34" charset="-122"/>
                <a:cs typeface="Nobile Bold" pitchFamily="34" charset="-120"/>
              </a:rPr>
              <a:t>41.68%</a:t>
            </a: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, substantially above the overall average.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83" y="1334095"/>
            <a:ext cx="2622724" cy="15300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494905"/>
            <a:ext cx="2224906" cy="30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ea typeface="Alexandria" pitchFamily="34" charset="-122"/>
                <a:cs typeface="Alexandria" pitchFamily="34" charset="-120"/>
              </a:rPr>
              <a:t>Contract Commitment Retains</a:t>
            </a:r>
            <a:endParaRPr lang="en-US" sz="1400" b="1" dirty="0"/>
          </a:p>
        </p:txBody>
      </p:sp>
      <p:sp>
        <p:nvSpPr>
          <p:cNvPr id="11" name="Text 6"/>
          <p:cNvSpPr/>
          <p:nvPr/>
        </p:nvSpPr>
        <p:spPr>
          <a:xfrm>
            <a:off x="6262091" y="1797674"/>
            <a:ext cx="2294079" cy="774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Month-to-month customers show weaker retention than longer-term contract holders.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005882"/>
            <a:ext cx="2622724" cy="15300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127" y="3166690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ea typeface="Alexandria" pitchFamily="34" charset="-122"/>
                <a:cs typeface="Alexandria" pitchFamily="34" charset="-120"/>
              </a:rPr>
              <a:t>Loyalty Grows with Tenure</a:t>
            </a:r>
            <a:endParaRPr lang="en-US" sz="1400" b="1" dirty="0"/>
          </a:p>
        </p:txBody>
      </p:sp>
      <p:sp>
        <p:nvSpPr>
          <p:cNvPr id="14" name="Text 8"/>
          <p:cNvSpPr/>
          <p:nvPr/>
        </p:nvSpPr>
        <p:spPr>
          <a:xfrm>
            <a:off x="733127" y="3694658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Longer-tenure customers demonstrate higher retention rates.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3005882"/>
            <a:ext cx="2622724" cy="15300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97610" y="3166690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ea typeface="Alexandria" pitchFamily="34" charset="-122"/>
                <a:cs typeface="Alexandria" pitchFamily="34" charset="-120"/>
              </a:rPr>
              <a:t>Electronic Check Risk</a:t>
            </a:r>
            <a:endParaRPr lang="en-US" sz="1400" b="1" dirty="0"/>
          </a:p>
        </p:txBody>
      </p:sp>
      <p:sp>
        <p:nvSpPr>
          <p:cNvPr id="17" name="Text 10"/>
          <p:cNvSpPr/>
          <p:nvPr/>
        </p:nvSpPr>
        <p:spPr>
          <a:xfrm>
            <a:off x="3497610" y="3473202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Highest payment-method churn — requires deeper investigation.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952" y="162260"/>
            <a:ext cx="2305137" cy="56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8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Business Risks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19" y="1441475"/>
            <a:ext cx="3993356" cy="23959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972967"/>
            <a:ext cx="564423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6006703" y="959495"/>
            <a:ext cx="2645866" cy="1022226"/>
          </a:xfrm>
          <a:prstGeom prst="roundRect">
            <a:avLst>
              <a:gd name="adj" fmla="val 537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06703" y="959495"/>
            <a:ext cx="2645866" cy="1022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50"/>
              </a:spcAft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 Customer Revenue Loss</a:t>
            </a:r>
            <a:endParaRPr lang="en-US" sz="1400" b="1" dirty="0"/>
          </a:p>
          <a:p>
            <a:pPr marL="0" indent="0" algn="l">
              <a:spcAft>
                <a:spcPts val="850"/>
              </a:spcAft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The 26.54% churn rate creates significant risk of continued customer and recurring-revenue loss</a:t>
            </a:r>
            <a:r>
              <a:rPr lang="en-US" sz="8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006703" y="2102197"/>
            <a:ext cx="2645866" cy="1182960"/>
          </a:xfrm>
          <a:prstGeom prst="roundRect">
            <a:avLst>
              <a:gd name="adj" fmla="val 464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06703" y="2117155"/>
            <a:ext cx="2645866" cy="115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spcAft>
                <a:spcPts val="850"/>
              </a:spcAft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 Concentrated High-Risk Segments</a:t>
            </a:r>
            <a:endParaRPr lang="en-US" sz="1400" b="1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High churn among Senior Citizens and other identified segments creates a risk that </a:t>
            </a:r>
            <a:r>
              <a:rPr lang="en-US" sz="1200" b="1" dirty="0">
                <a:solidFill>
                  <a:srgbClr val="404155"/>
                </a:solidFill>
                <a:ea typeface="Nobile Bold" pitchFamily="34" charset="-122"/>
                <a:cs typeface="Nobile Bold" pitchFamily="34" charset="-120"/>
              </a:rPr>
              <a:t>generic retention strategies</a:t>
            </a: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will fail to address vulnerable groups.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06703" y="3405634"/>
            <a:ext cx="2645866" cy="1182960"/>
          </a:xfrm>
          <a:prstGeom prst="roundRect">
            <a:avLst>
              <a:gd name="adj" fmla="val 4640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06702" y="3405634"/>
            <a:ext cx="2641179" cy="115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50"/>
              </a:spcAft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 Early Customer Attrition</a:t>
            </a:r>
            <a:endParaRPr lang="en-US" sz="1400" b="1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Lower retention among month-to-month and newer customers creates a risk of losing customers </a:t>
            </a:r>
            <a:r>
              <a:rPr lang="en-US" sz="1200" b="1" dirty="0">
                <a:solidFill>
                  <a:srgbClr val="404155"/>
                </a:solidFill>
                <a:ea typeface="Nobile Bold" pitchFamily="34" charset="-122"/>
                <a:cs typeface="Nobile Bold" pitchFamily="34" charset="-120"/>
              </a:rPr>
              <a:t>before long-term loyalty develops</a:t>
            </a: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1777" y="71327"/>
            <a:ext cx="3335652" cy="52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28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Business Opportunities</a:t>
            </a:r>
            <a:endParaRPr lang="en-US" sz="2800" b="1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864691"/>
            <a:ext cx="343272" cy="3432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1272006"/>
            <a:ext cx="4722763" cy="864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1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Targeted Retention</a:t>
            </a:r>
            <a:endParaRPr lang="en-US" sz="1400" b="1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Use customer characteristics and churn patterns to identify and proactively engage high-risk customers.</a:t>
            </a:r>
            <a:endParaRPr lang="en-US" sz="1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238821"/>
            <a:ext cx="343272" cy="34327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96119" y="2586375"/>
            <a:ext cx="4722763" cy="79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1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Contract Conversion</a:t>
            </a:r>
            <a:endParaRPr lang="en-US" sz="1400" b="1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Create value-based incentives for suitable month-to-month customers to adopt longer-term contracts.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612952"/>
            <a:ext cx="343272" cy="34327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96119" y="3963889"/>
            <a:ext cx="4837881" cy="88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1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Customer Experience Optimization</a:t>
            </a:r>
            <a:endParaRPr lang="en-US" sz="1400" b="1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Investigate service configurations and Electronic Check customers to identify opportunities to improve the customer experience and retention.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5429" y="76646"/>
            <a:ext cx="4823366" cy="535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28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Recommendations &amp; Conclusion</a:t>
            </a:r>
            <a:endParaRPr lang="en-US" sz="2800" b="1" dirty="0"/>
          </a:p>
        </p:txBody>
      </p:sp>
      <p:sp>
        <p:nvSpPr>
          <p:cNvPr id="3" name="Text 1"/>
          <p:cNvSpPr/>
          <p:nvPr/>
        </p:nvSpPr>
        <p:spPr>
          <a:xfrm>
            <a:off x="496120" y="709095"/>
            <a:ext cx="2936510" cy="304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Key Recommendations</a:t>
            </a:r>
            <a:endParaRPr lang="en-US" sz="1400" b="1" dirty="0"/>
          </a:p>
        </p:txBody>
      </p:sp>
      <p:sp>
        <p:nvSpPr>
          <p:cNvPr id="4" name="Shape 2"/>
          <p:cNvSpPr/>
          <p:nvPr/>
        </p:nvSpPr>
        <p:spPr>
          <a:xfrm>
            <a:off x="496119" y="1206922"/>
            <a:ext cx="1901354" cy="1154757"/>
          </a:xfrm>
          <a:prstGeom prst="roundRect">
            <a:avLst>
              <a:gd name="adj" fmla="val 4673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6120" y="1206922"/>
            <a:ext cx="1884535" cy="1154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 Launch targeted retention campaigns</a:t>
            </a:r>
            <a:endParaRPr lang="en-US" sz="1400" b="1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Prioritize high-risk segments, particularly Senior Citizens.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3856" y="1206922"/>
            <a:ext cx="1901428" cy="1154757"/>
          </a:xfrm>
          <a:prstGeom prst="roundRect">
            <a:avLst>
              <a:gd name="adj" fmla="val 4673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97038" y="1206923"/>
            <a:ext cx="1918246" cy="115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 </a:t>
            </a:r>
            <a:r>
              <a:rPr lang="en-US" sz="15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Strengthen early-tenure engagement</a:t>
            </a:r>
            <a:endParaRPr lang="en-US" sz="1500" b="1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Proactive onboarding and support during the first 12–24 months.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6119" y="2478063"/>
            <a:ext cx="1901354" cy="1154757"/>
          </a:xfrm>
          <a:prstGeom prst="roundRect">
            <a:avLst>
              <a:gd name="adj" fmla="val 4673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356" y="2478064"/>
            <a:ext cx="1906117" cy="115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 Encourage longer-term contracts</a:t>
            </a:r>
            <a:endParaRPr lang="en-US" sz="1400" b="1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Offer relevant incentives to month-to-month customers.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3856" y="2478063"/>
            <a:ext cx="1901428" cy="1154757"/>
          </a:xfrm>
          <a:prstGeom prst="roundRect">
            <a:avLst>
              <a:gd name="adj" fmla="val 4673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5912" y="2478064"/>
            <a:ext cx="1889372" cy="115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 Investigate Electronic Check churn</a:t>
            </a:r>
            <a:endParaRPr lang="en-US" sz="1400" b="1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Assess whether alternative payment options could improve retention.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6119" y="3749204"/>
            <a:ext cx="3919165" cy="841325"/>
          </a:xfrm>
          <a:prstGeom prst="roundRect">
            <a:avLst>
              <a:gd name="adj" fmla="val 6414"/>
            </a:avLst>
          </a:prstGeom>
          <a:solidFill>
            <a:srgbClr val="D2DDF9"/>
          </a:solidFill>
          <a:ln w="4763">
            <a:solidFill>
              <a:srgbClr val="B8C3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120" y="3749205"/>
            <a:ext cx="3919164" cy="841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 Develop proactive churn monitoring</a:t>
            </a:r>
            <a:endParaRPr lang="en-US" sz="1400" b="1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 Build a churn-risk framework using contract type, tenure, demographics, services, and payment method.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7510" y="657871"/>
            <a:ext cx="1633290" cy="304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Conclusion</a:t>
            </a:r>
            <a:endParaRPr lang="en-US" sz="1400" b="1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EFF27B53-6A6D-43EF-AD3A-3F81442BD6E5}"/>
              </a:ext>
            </a:extLst>
          </p:cNvPr>
          <p:cNvSpPr/>
          <p:nvPr/>
        </p:nvSpPr>
        <p:spPr>
          <a:xfrm>
            <a:off x="4767510" y="1188818"/>
            <a:ext cx="3919165" cy="97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Customer churn is a significant challenge at </a:t>
            </a:r>
            <a:r>
              <a:rPr lang="en-US" sz="1200" b="1" dirty="0">
                <a:solidFill>
                  <a:srgbClr val="404155"/>
                </a:solidFill>
                <a:ea typeface="Nobile Bold" pitchFamily="34" charset="-122"/>
                <a:cs typeface="Nobile Bold" pitchFamily="34" charset="-120"/>
              </a:rPr>
              <a:t>26.54%</a:t>
            </a:r>
            <a:r>
              <a:rPr lang="en-US" sz="1200" dirty="0">
                <a:solidFill>
                  <a:srgbClr val="404155"/>
                </a:solidFill>
                <a:ea typeface="Nobile" pitchFamily="34" charset="-122"/>
                <a:cs typeface="Nobile" pitchFamily="34" charset="-120"/>
              </a:rPr>
              <a:t>, but it is not evenly distributed. Notable differences exist across demographics, contract type, tenure, services, and payment method.</a:t>
            </a:r>
            <a:endParaRPr lang="en-US" sz="12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1EC8624B-C1AC-4A74-ACAC-CA7704674D8F}"/>
              </a:ext>
            </a:extLst>
          </p:cNvPr>
          <p:cNvSpPr/>
          <p:nvPr/>
        </p:nvSpPr>
        <p:spPr>
          <a:xfrm>
            <a:off x="4728718" y="2393400"/>
            <a:ext cx="3919165" cy="1057275"/>
          </a:xfrm>
          <a:prstGeom prst="roundRect">
            <a:avLst>
              <a:gd name="adj" fmla="val 5104"/>
            </a:avLst>
          </a:prstGeom>
          <a:solidFill>
            <a:srgbClr val="B6FCB8"/>
          </a:solidFill>
          <a:ln/>
        </p:spPr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0848B312-5637-416A-A48B-4E93B4D0F91B}"/>
              </a:ext>
            </a:extLst>
          </p:cNvPr>
          <p:cNvSpPr/>
          <p:nvPr/>
        </p:nvSpPr>
        <p:spPr>
          <a:xfrm>
            <a:off x="4728716" y="2393401"/>
            <a:ext cx="3919165" cy="1057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The strongest opportunities lie in </a:t>
            </a:r>
            <a:r>
              <a:rPr lang="en-US" sz="1200" b="1" dirty="0">
                <a:solidFill>
                  <a:srgbClr val="000000"/>
                </a:solidFill>
                <a:ea typeface="Nobile Bold" pitchFamily="34" charset="-122"/>
                <a:cs typeface="Nobile Bold" pitchFamily="34" charset="-120"/>
              </a:rPr>
              <a:t>targeted retention, early-tenure engagement, longer-term contract adoption</a:t>
            </a:r>
            <a:r>
              <a:rPr lang="en-US" sz="1200" dirty="0">
                <a:solidFill>
                  <a:srgbClr val="000000"/>
                </a:solidFill>
                <a:ea typeface="Nobile" pitchFamily="34" charset="-122"/>
                <a:cs typeface="Nobile" pitchFamily="34" charset="-120"/>
              </a:rPr>
              <a:t>, and deeper investigation of high-risk groups. A proactive, data-driven strategy can help identify vulnerable customers earlier and improve long-term retention.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813</Words>
  <Application>Microsoft Office PowerPoint</Application>
  <PresentationFormat>On-screen Show (16:9)</PresentationFormat>
  <Paragraphs>125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Wingdings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kickandwheels</dc:creator>
  <cp:lastModifiedBy>Samson Arawande</cp:lastModifiedBy>
  <cp:revision>18</cp:revision>
  <dcterms:created xsi:type="dcterms:W3CDTF">2026-08-08T17:04:25Z</dcterms:created>
  <dcterms:modified xsi:type="dcterms:W3CDTF">2026-08-08T21:54:23Z</dcterms:modified>
</cp:coreProperties>
</file>