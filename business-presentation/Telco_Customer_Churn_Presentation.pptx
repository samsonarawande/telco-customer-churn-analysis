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5143500" cy="9144000"/>
  <p:embeddedFontLst>
    <p:embeddedFont>
      <p:font typeface="Arial Black" panose="020B0A04020102020204" pitchFamily="34" charset="0"/>
      <p:bold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8" d="100"/>
          <a:sy n="88" d="100"/>
        </p:scale>
        <p:origin x="6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p\Desktop\AnalystLab%20Africa\Week%201\Telco_Customer_Churn_Analysi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p\Desktop\AnalystLab%20Africa\Week%201\Telco_Customer_Churn_Analysi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p\Desktop\AnalystLab%20Africa\Week%201\Telco%20Customer%20Churn%20Datase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p\Desktop\AnalystLab%20Africa\Week%201\Telco%20Customer%20Churn%20Dataset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p\Desktop\AnalystLab%20Africa\Week%201\Telco%20Customer%20Churn%20Dataset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p\Desktop\AnalystLab%20Africa\Week%201\Telco%20Customer%20Churn%20Dataset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000">
                <a:latin typeface="Arial Black" panose="020B0A04020102020204" pitchFamily="34" charset="0"/>
              </a:rPr>
              <a:t>CUSTOMER DEMOGRAPHIC PROFILE</a:t>
            </a:r>
          </a:p>
        </c:rich>
      </c:tx>
      <c:layout>
        <c:manualLayout>
          <c:xMode val="edge"/>
          <c:yMode val="edge"/>
          <c:x val="0.19361506139292053"/>
          <c:y val="2.972081158877629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rial Black" panose="020B0A04020102020204" pitchFamily="34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5452933859021906"/>
          <c:y val="0.17360499424814327"/>
          <c:w val="0.75973937087633814"/>
          <c:h val="0.72294674265708014"/>
        </c:manualLayout>
      </c:layout>
      <c:doughnutChart>
        <c:varyColors val="1"/>
        <c:ser>
          <c:idx val="0"/>
          <c:order val="0"/>
          <c:tx>
            <c:strRef>
              <c:f>'Summarization 1'!$B$123</c:f>
              <c:strCache>
                <c:ptCount val="1"/>
                <c:pt idx="0">
                  <c:v>Category 1 %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FF04-4D52-A910-FE21DB6DF8D6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FF04-4D52-A910-FE21DB6DF8D6}"/>
              </c:ext>
            </c:extLst>
          </c:dPt>
          <c:dPt>
            <c:idx val="2"/>
            <c:bubble3D val="0"/>
            <c:spPr>
              <a:gradFill rotWithShape="1">
                <a:gsLst>
                  <a:gs pos="0">
                    <a:schemeClr val="accent3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3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3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FF04-4D52-A910-FE21DB6DF8D6}"/>
              </c:ext>
            </c:extLst>
          </c:dPt>
          <c:dPt>
            <c:idx val="3"/>
            <c:bubble3D val="0"/>
            <c:spPr>
              <a:gradFill rotWithShape="1">
                <a:gsLst>
                  <a:gs pos="0">
                    <a:schemeClr val="accent4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4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4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FF04-4D52-A910-FE21DB6DF8D6}"/>
              </c:ext>
            </c:extLst>
          </c:dPt>
          <c:dLbls>
            <c:dLbl>
              <c:idx val="0"/>
              <c:layout>
                <c:manualLayout>
                  <c:x val="0.27862669423368941"/>
                  <c:y val="0.16885096526411705"/>
                </c:manualLayout>
              </c:layout>
              <c:tx>
                <c:rich>
                  <a:bodyPr/>
                  <a:lstStyle/>
                  <a:p>
                    <a:fld id="{C455E844-56BC-4982-8474-0744723D72A2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FF04-4D52-A910-FE21DB6DF8D6}"/>
                </c:ext>
              </c:extLst>
            </c:dLbl>
            <c:dLbl>
              <c:idx val="1"/>
              <c:layout>
                <c:manualLayout>
                  <c:x val="0.22605646189289139"/>
                  <c:y val="0.16388441193142794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lt1">
                            <a:lumMod val="8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C55D37AB-375F-4FE3-8F62-ADB96CAB6434}" type="CELLRANGE">
                      <a:rPr lang="en-US"/>
                      <a:pPr>
                        <a:defRPr/>
                      </a:pPr>
                      <a:t>[CELLRANGE]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lt1">
                          <a:lumMod val="8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1863860510764976"/>
                      <c:h val="8.9200615950359649E-2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FF04-4D52-A910-FE21DB6DF8D6}"/>
                </c:ext>
              </c:extLst>
            </c:dLbl>
            <c:dLbl>
              <c:idx val="2"/>
              <c:layout>
                <c:manualLayout>
                  <c:x val="-0.24766826640904777"/>
                  <c:y val="-5.9205432922095014E-2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lt1">
                            <a:lumMod val="8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D7B84FAB-B644-4842-ADC6-FAFBF974B75E}" type="CELLRANGE">
                      <a:rPr lang="en-US"/>
                      <a:pPr>
                        <a:defRPr/>
                      </a:pPr>
                      <a:t>[CELLRANGE]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lt1">
                          <a:lumMod val="8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2760457548572621"/>
                      <c:h val="0.12211597238960674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FF04-4D52-A910-FE21DB6DF8D6}"/>
                </c:ext>
              </c:extLst>
            </c:dLbl>
            <c:dLbl>
              <c:idx val="3"/>
              <c:layout>
                <c:manualLayout>
                  <c:x val="-0.26701059190218085"/>
                  <c:y val="-4.5098851590989114E-2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lt1">
                            <a:lumMod val="8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9FCCA7CA-9E75-4F2B-9B6B-CA9065E91B3A}" type="CELLRANGE">
                      <a:rPr lang="en-US"/>
                      <a:pPr>
                        <a:defRPr/>
                      </a:pPr>
                      <a:t>[CELLRANGE]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lt1">
                          <a:lumMod val="8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7799552292149438"/>
                      <c:h val="0.11271158483553614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7-FF04-4D52-A910-FE21DB6DF8D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1"/>
            <c:leaderLines>
              <c:spPr>
                <a:ln w="9525">
                  <a:solidFill>
                    <a:schemeClr val="lt1">
                      <a:lumMod val="95000"/>
                      <a:alpha val="54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'Summarization 1'!$A$124:$A$127</c:f>
              <c:strCache>
                <c:ptCount val="4"/>
                <c:pt idx="0">
                  <c:v>gender</c:v>
                </c:pt>
                <c:pt idx="1">
                  <c:v>SeniorCitizen</c:v>
                </c:pt>
                <c:pt idx="2">
                  <c:v>Partner</c:v>
                </c:pt>
                <c:pt idx="3">
                  <c:v>Dependents</c:v>
                </c:pt>
              </c:strCache>
            </c:strRef>
          </c:cat>
          <c:val>
            <c:numRef>
              <c:f>'Summarization 1'!$B$124:$B$127</c:f>
              <c:numCache>
                <c:formatCode>0.00%</c:formatCode>
                <c:ptCount val="4"/>
                <c:pt idx="0">
                  <c:v>0.50480000000000003</c:v>
                </c:pt>
                <c:pt idx="1">
                  <c:v>0.83699999999999997</c:v>
                </c:pt>
                <c:pt idx="2">
                  <c:v>0.51700000000000002</c:v>
                </c:pt>
                <c:pt idx="3">
                  <c:v>0.70040000000000002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'Summarization 1'!$B$131:$B$134</c15:f>
                <c15:dlblRangeCache>
                  <c:ptCount val="4"/>
                  <c:pt idx="0">
                    <c:v>Male - 50.48%</c:v>
                  </c:pt>
                  <c:pt idx="1">
                    <c:v>Non senior(0) - 83.79%</c:v>
                  </c:pt>
                  <c:pt idx="2">
                    <c:v>Non Partner - 51.70%</c:v>
                  </c:pt>
                  <c:pt idx="3">
                    <c:v>Non dependents - 70.04%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8-FF04-4D52-A910-FE21DB6DF8D6}"/>
            </c:ext>
          </c:extLst>
        </c:ser>
        <c:ser>
          <c:idx val="1"/>
          <c:order val="1"/>
          <c:tx>
            <c:strRef>
              <c:f>'Summarization 1'!$C$123</c:f>
              <c:strCache>
                <c:ptCount val="1"/>
                <c:pt idx="0">
                  <c:v>Category 2 %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A-FF04-4D52-A910-FE21DB6DF8D6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C-FF04-4D52-A910-FE21DB6DF8D6}"/>
              </c:ext>
            </c:extLst>
          </c:dPt>
          <c:dPt>
            <c:idx val="2"/>
            <c:bubble3D val="0"/>
            <c:spPr>
              <a:gradFill rotWithShape="1">
                <a:gsLst>
                  <a:gs pos="0">
                    <a:schemeClr val="accent3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3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3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E-FF04-4D52-A910-FE21DB6DF8D6}"/>
              </c:ext>
            </c:extLst>
          </c:dPt>
          <c:dPt>
            <c:idx val="3"/>
            <c:bubble3D val="0"/>
            <c:spPr>
              <a:gradFill rotWithShape="1">
                <a:gsLst>
                  <a:gs pos="0">
                    <a:schemeClr val="accent4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4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4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0-FF04-4D52-A910-FE21DB6DF8D6}"/>
              </c:ext>
            </c:extLst>
          </c:dPt>
          <c:dLbls>
            <c:dLbl>
              <c:idx val="0"/>
              <c:layout>
                <c:manualLayout>
                  <c:x val="0.21378612405685249"/>
                  <c:y val="-5.9222094238627822E-2"/>
                </c:manualLayout>
              </c:layout>
              <c:tx>
                <c:rich>
                  <a:bodyPr/>
                  <a:lstStyle/>
                  <a:p>
                    <a:fld id="{95645256-3AA3-44F8-B392-DB995CFED15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A-FF04-4D52-A910-FE21DB6DF8D6}"/>
                </c:ext>
              </c:extLst>
            </c:dLbl>
            <c:dLbl>
              <c:idx val="1"/>
              <c:layout>
                <c:manualLayout>
                  <c:x val="7.609053475796948E-2"/>
                  <c:y val="0.14688711552112829"/>
                </c:manualLayout>
              </c:layout>
              <c:tx>
                <c:rich>
                  <a:bodyPr/>
                  <a:lstStyle/>
                  <a:p>
                    <a:fld id="{28DD1057-F6A4-4B85-B0A1-B620815E9956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C-FF04-4D52-A910-FE21DB6DF8D6}"/>
                </c:ext>
              </c:extLst>
            </c:dLbl>
            <c:dLbl>
              <c:idx val="2"/>
              <c:layout>
                <c:manualLayout>
                  <c:x val="-0.22303355258692106"/>
                  <c:y val="4.659392706119915E-2"/>
                </c:manualLayout>
              </c:layout>
              <c:tx>
                <c:rich>
                  <a:bodyPr/>
                  <a:lstStyle/>
                  <a:p>
                    <a:fld id="{15B2FA4F-29F9-4A34-8D78-8B159219328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E-FF04-4D52-A910-FE21DB6DF8D6}"/>
                </c:ext>
              </c:extLst>
            </c:dLbl>
            <c:dLbl>
              <c:idx val="3"/>
              <c:layout>
                <c:manualLayout>
                  <c:x val="-0.25838458396884872"/>
                  <c:y val="-8.0365304918753863E-2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lt1">
                            <a:lumMod val="8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F8BF1B97-79EC-4A53-AA45-648CE489CD64}" type="CELLRANGE">
                      <a:rPr lang="en-US"/>
                      <a:pPr>
                        <a:defRPr/>
                      </a:pPr>
                      <a:t>[CELLRANGE]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lt1">
                          <a:lumMod val="8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342923662023702"/>
                      <c:h val="9.8605003504430244E-2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0-FF04-4D52-A910-FE21DB6DF8D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1"/>
            <c:leaderLines>
              <c:spPr>
                <a:ln w="9525">
                  <a:solidFill>
                    <a:schemeClr val="lt1">
                      <a:lumMod val="95000"/>
                      <a:alpha val="54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'Summarization 1'!$A$124:$A$127</c:f>
              <c:strCache>
                <c:ptCount val="4"/>
                <c:pt idx="0">
                  <c:v>gender</c:v>
                </c:pt>
                <c:pt idx="1">
                  <c:v>SeniorCitizen</c:v>
                </c:pt>
                <c:pt idx="2">
                  <c:v>Partner</c:v>
                </c:pt>
                <c:pt idx="3">
                  <c:v>Dependents</c:v>
                </c:pt>
              </c:strCache>
            </c:strRef>
          </c:cat>
          <c:val>
            <c:numRef>
              <c:f>'Summarization 1'!$C$124:$C$127</c:f>
              <c:numCache>
                <c:formatCode>0.00%</c:formatCode>
                <c:ptCount val="4"/>
                <c:pt idx="0">
                  <c:v>0.49519999999999997</c:v>
                </c:pt>
                <c:pt idx="1">
                  <c:v>0.16300000000000001</c:v>
                </c:pt>
                <c:pt idx="2">
                  <c:v>0.48299999999999998</c:v>
                </c:pt>
                <c:pt idx="3">
                  <c:v>0.29959999999999998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'Summarization 1'!$C$131:$C$134</c15:f>
                <c15:dlblRangeCache>
                  <c:ptCount val="4"/>
                  <c:pt idx="0">
                    <c:v>Female - 49.52%</c:v>
                  </c:pt>
                  <c:pt idx="1">
                    <c:v>Senior(1) - 16.21%</c:v>
                  </c:pt>
                  <c:pt idx="2">
                    <c:v>Partner - 48.30%</c:v>
                  </c:pt>
                  <c:pt idx="3">
                    <c:v>Dependents - 29.96%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11-FF04-4D52-A910-FE21DB6DF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200">
                <a:latin typeface="Arial Black" panose="020B0A04020102020204" pitchFamily="34" charset="0"/>
              </a:rPr>
              <a:t>HIGHEST CHURN RATE SEGMENTS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rial Black" panose="020B0A04020102020204" pitchFamily="34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36992520996164197"/>
          <c:y val="0.18060225160926457"/>
          <c:w val="0.55864559738251895"/>
          <c:h val="0.7048027799341982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'Summarization 1'!$F$141</c:f>
              <c:strCache>
                <c:ptCount val="1"/>
                <c:pt idx="0">
                  <c:v>Churn Rate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FB26-49B9-BEF8-C11D961AF70A}"/>
              </c:ext>
            </c:extLst>
          </c:dPt>
          <c:dPt>
            <c:idx val="1"/>
            <c:invertIfNegative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FB26-49B9-BEF8-C11D961AF70A}"/>
              </c:ext>
            </c:extLst>
          </c:dPt>
          <c:dPt>
            <c:idx val="2"/>
            <c:invertIfNegative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FB26-49B9-BEF8-C11D961AF70A}"/>
              </c:ext>
            </c:extLst>
          </c:dPt>
          <c:dPt>
            <c:idx val="3"/>
            <c:invertIfNegative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FB26-49B9-BEF8-C11D961AF70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'Summarization 1'!$E$142:$E$145</c:f>
              <c:strCache>
                <c:ptCount val="4"/>
                <c:pt idx="0">
                  <c:v>Senior Citizens</c:v>
                </c:pt>
                <c:pt idx="1">
                  <c:v>Customers Without Partners</c:v>
                </c:pt>
                <c:pt idx="2">
                  <c:v>Customers Without Dependents</c:v>
                </c:pt>
                <c:pt idx="3">
                  <c:v>Female Customers</c:v>
                </c:pt>
              </c:strCache>
            </c:strRef>
          </c:cat>
          <c:val>
            <c:numRef>
              <c:f>'Summarization 1'!$F$142:$F$145</c:f>
              <c:numCache>
                <c:formatCode>0.00%</c:formatCode>
                <c:ptCount val="4"/>
                <c:pt idx="0">
                  <c:v>0.4168</c:v>
                </c:pt>
                <c:pt idx="1">
                  <c:v>0.3296</c:v>
                </c:pt>
                <c:pt idx="2">
                  <c:v>0.31280000000000002</c:v>
                </c:pt>
                <c:pt idx="3">
                  <c:v>0.26919999999999999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B26-49B9-BEF8-C11D961AF70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5"/>
        <c:overlap val="-20"/>
        <c:axId val="1659902576"/>
        <c:axId val="1659900080"/>
      </c:barChart>
      <c:valAx>
        <c:axId val="1659900080"/>
        <c:scaling>
          <c:orientation val="minMax"/>
        </c:scaling>
        <c:delete val="1"/>
        <c:axPos val="t"/>
        <c:numFmt formatCode="0.00%" sourceLinked="1"/>
        <c:majorTickMark val="none"/>
        <c:minorTickMark val="none"/>
        <c:tickLblPos val="nextTo"/>
        <c:crossAx val="1659902576"/>
        <c:crosses val="autoZero"/>
        <c:crossBetween val="between"/>
      </c:valAx>
      <c:catAx>
        <c:axId val="1659902576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59900080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200" b="1" i="0" u="none" strike="noStrike" baseline="0"/>
              <a:t>RETENTION RATE BY CONTRACT TYPE </a:t>
            </a:r>
            <a:endParaRPr lang="en-US" sz="1200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2.6315797855280314E-2"/>
          <c:y val="0.25805543051413993"/>
          <c:w val="0.91626794258373201"/>
          <c:h val="0.598246283782943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'Summarization 1'!$B$130</c:f>
              <c:strCache>
                <c:ptCount val="1"/>
                <c:pt idx="0">
                  <c:v>Retention Rate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'Summarization 1'!$A$131:$A$133</c:f>
              <c:strCache>
                <c:ptCount val="3"/>
                <c:pt idx="0">
                  <c:v>Month-to-month</c:v>
                </c:pt>
                <c:pt idx="1">
                  <c:v>One year</c:v>
                </c:pt>
                <c:pt idx="2">
                  <c:v>Two year</c:v>
                </c:pt>
              </c:strCache>
            </c:strRef>
          </c:cat>
          <c:val>
            <c:numRef>
              <c:f>'Summarization 1'!$B$131:$B$133</c:f>
              <c:numCache>
                <c:formatCode>0.00%</c:formatCode>
                <c:ptCount val="3"/>
                <c:pt idx="0">
                  <c:v>0.57289999999999996</c:v>
                </c:pt>
                <c:pt idx="1">
                  <c:v>0.88729999999999998</c:v>
                </c:pt>
                <c:pt idx="2">
                  <c:v>0.97170000000000001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4C-4EA3-808F-F0E051D206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59550895"/>
        <c:axId val="1759551311"/>
      </c:barChart>
      <c:catAx>
        <c:axId val="175955089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59551311"/>
        <c:crosses val="autoZero"/>
        <c:auto val="1"/>
        <c:lblAlgn val="ctr"/>
        <c:lblOffset val="100"/>
        <c:noMultiLvlLbl val="0"/>
      </c:catAx>
      <c:valAx>
        <c:axId val="1759551311"/>
        <c:scaling>
          <c:orientation val="minMax"/>
          <c:max val="1"/>
        </c:scaling>
        <c:delete val="1"/>
        <c:axPos val="l"/>
        <c:numFmt formatCode="0.00%" sourceLinked="1"/>
        <c:majorTickMark val="none"/>
        <c:minorTickMark val="none"/>
        <c:tickLblPos val="nextTo"/>
        <c:crossAx val="17595508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25400" cap="flat" cmpd="sng" algn="ctr">
      <a:solidFill>
        <a:schemeClr val="tx1">
          <a:lumMod val="50000"/>
          <a:lumOff val="50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100" b="1" i="0" u="none" strike="noStrike" baseline="0"/>
              <a:t>RETENTION RATE BY CUSTOMER TENURE</a:t>
            </a:r>
            <a:endParaRPr lang="en-US" sz="1100" b="1"/>
          </a:p>
        </c:rich>
      </c:tx>
      <c:layout>
        <c:manualLayout>
          <c:xMode val="edge"/>
          <c:yMode val="edge"/>
          <c:x val="0.291487609294237"/>
          <c:y val="2.59740259740259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9351359837689"/>
          <c:y val="0.16521934758155229"/>
          <c:w val="0.755906961016376"/>
          <c:h val="0.77736111111111106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'Summarization 2'!$B$200:$B$201</c:f>
              <c:strCache>
                <c:ptCount val="2"/>
                <c:pt idx="0">
                  <c:v>Q4</c:v>
                </c:pt>
                <c:pt idx="1">
                  <c:v>Retention Rate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454555993000874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F04-402E-84B7-1021FD570011}"/>
                </c:ext>
              </c:extLst>
            </c:dLbl>
            <c:dLbl>
              <c:idx val="1"/>
              <c:layout>
                <c:manualLayout>
                  <c:x val="0.3241001749781277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F04-402E-84B7-1021FD570011}"/>
                </c:ext>
              </c:extLst>
            </c:dLbl>
            <c:dLbl>
              <c:idx val="2"/>
              <c:layout>
                <c:manualLayout>
                  <c:x val="0.35172790901137346"/>
                  <c:y val="-4.62962962962954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F04-402E-84B7-1021FD570011}"/>
                </c:ext>
              </c:extLst>
            </c:dLbl>
            <c:dLbl>
              <c:idx val="3"/>
              <c:layout>
                <c:manualLayout>
                  <c:x val="0.3618737970253717"/>
                  <c:y val="-4.629629629629629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F04-402E-84B7-1021FD570011}"/>
                </c:ext>
              </c:extLst>
            </c:dLbl>
            <c:dLbl>
              <c:idx val="4"/>
              <c:layout>
                <c:manualLayout>
                  <c:x val="0.37708530183727046"/>
                  <c:y val="-4.243778136006664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F04-402E-84B7-1021FD570011}"/>
                </c:ext>
              </c:extLst>
            </c:dLbl>
            <c:dLbl>
              <c:idx val="5"/>
              <c:layout>
                <c:manualLayout>
                  <c:x val="0.40073015796338329"/>
                  <c:y val="4.629818999897710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F04-402E-84B7-1021FD57001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'Summarization 2'!$A$202:$A$207</c:f>
              <c:strCache>
                <c:ptCount val="6"/>
                <c:pt idx="0">
                  <c:v>0–12 Months</c:v>
                </c:pt>
                <c:pt idx="1">
                  <c:v>13–24 Months</c:v>
                </c:pt>
                <c:pt idx="2">
                  <c:v>25–36 Months</c:v>
                </c:pt>
                <c:pt idx="3">
                  <c:v>37–48 Months</c:v>
                </c:pt>
                <c:pt idx="4">
                  <c:v>49–60 Months</c:v>
                </c:pt>
                <c:pt idx="5">
                  <c:v>61–72 Months</c:v>
                </c:pt>
              </c:strCache>
            </c:strRef>
          </c:cat>
          <c:val>
            <c:numRef>
              <c:f>'Summarization 2'!$B$202:$B$207</c:f>
              <c:numCache>
                <c:formatCode>0.00%</c:formatCode>
                <c:ptCount val="6"/>
                <c:pt idx="0">
                  <c:v>0.52559999999999996</c:v>
                </c:pt>
                <c:pt idx="1">
                  <c:v>0.71289999999999998</c:v>
                </c:pt>
                <c:pt idx="2">
                  <c:v>0.78369999999999995</c:v>
                </c:pt>
                <c:pt idx="3">
                  <c:v>0.80969999999999998</c:v>
                </c:pt>
                <c:pt idx="4">
                  <c:v>0.85580000000000001</c:v>
                </c:pt>
                <c:pt idx="5">
                  <c:v>0.93389999999999995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F04-402E-84B7-1021FD570011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597498079"/>
        <c:axId val="597498911"/>
      </c:barChart>
      <c:catAx>
        <c:axId val="59749807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7498911"/>
        <c:crosses val="autoZero"/>
        <c:auto val="1"/>
        <c:lblAlgn val="ctr"/>
        <c:lblOffset val="100"/>
        <c:noMultiLvlLbl val="0"/>
      </c:catAx>
      <c:valAx>
        <c:axId val="597498911"/>
        <c:scaling>
          <c:orientation val="minMax"/>
        </c:scaling>
        <c:delete val="1"/>
        <c:axPos val="t"/>
        <c:numFmt formatCode="0.00%" sourceLinked="1"/>
        <c:majorTickMark val="out"/>
        <c:minorTickMark val="none"/>
        <c:tickLblPos val="nextTo"/>
        <c:crossAx val="59749807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25400" cap="flat" cmpd="sng" algn="ctr">
      <a:solidFill>
        <a:schemeClr val="tx1">
          <a:lumMod val="50000"/>
          <a:lumOff val="50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100" b="1" i="0" u="none" strike="noStrike" baseline="0"/>
              <a:t>CHURN RATE BY SERVICE FEATURES</a:t>
            </a:r>
            <a:endParaRPr lang="en-US" sz="1100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50101909433185665"/>
          <c:y val="0.25556350126469202"/>
          <c:w val="0.45290728814051234"/>
          <c:h val="0.6603444103742067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'Summarization 2'!$B$209</c:f>
              <c:strCache>
                <c:ptCount val="1"/>
                <c:pt idx="0">
                  <c:v>churn rate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'Summarization 2'!$A$210:$A$214</c:f>
              <c:strCache>
                <c:ptCount val="5"/>
                <c:pt idx="0">
                  <c:v>Internet Service — Fiber optic    </c:v>
                </c:pt>
                <c:pt idx="1">
                  <c:v>Online Security — No </c:v>
                </c:pt>
                <c:pt idx="2">
                  <c:v>Tech Support — No     </c:v>
                </c:pt>
                <c:pt idx="3">
                  <c:v>Online Backup — No  </c:v>
                </c:pt>
                <c:pt idx="4">
                  <c:v>Device Protection — No   </c:v>
                </c:pt>
              </c:strCache>
            </c:strRef>
          </c:cat>
          <c:val>
            <c:numRef>
              <c:f>'Summarization 2'!$B$210:$B$214</c:f>
              <c:numCache>
                <c:formatCode>0.00%</c:formatCode>
                <c:ptCount val="5"/>
                <c:pt idx="0">
                  <c:v>0.41889999999999999</c:v>
                </c:pt>
                <c:pt idx="1">
                  <c:v>0.41770000000000002</c:v>
                </c:pt>
                <c:pt idx="2">
                  <c:v>0.41639999999999999</c:v>
                </c:pt>
                <c:pt idx="3">
                  <c:v>0.39929999999999999</c:v>
                </c:pt>
                <c:pt idx="4">
                  <c:v>0.39129999999999998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D9-4C99-B2EC-BD8EF6D9E0D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2067796207"/>
        <c:axId val="2067815343"/>
      </c:barChart>
      <c:catAx>
        <c:axId val="2067796207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815343"/>
        <c:crosses val="autoZero"/>
        <c:auto val="1"/>
        <c:lblAlgn val="ctr"/>
        <c:lblOffset val="100"/>
        <c:noMultiLvlLbl val="0"/>
      </c:catAx>
      <c:valAx>
        <c:axId val="2067815343"/>
        <c:scaling>
          <c:orientation val="minMax"/>
        </c:scaling>
        <c:delete val="1"/>
        <c:axPos val="t"/>
        <c:numFmt formatCode="0.00%" sourceLinked="1"/>
        <c:majorTickMark val="none"/>
        <c:minorTickMark val="none"/>
        <c:tickLblPos val="nextTo"/>
        <c:crossAx val="206779620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25400" cap="flat" cmpd="sng" algn="ctr">
      <a:solidFill>
        <a:schemeClr val="tx1">
          <a:lumMod val="50000"/>
          <a:lumOff val="50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100" b="1" i="0" u="none" strike="noStrike" baseline="0"/>
              <a:t>CHURN RATE BY PAYMENT METHOD</a:t>
            </a:r>
            <a:endParaRPr lang="en-US" sz="1100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46230635514974822"/>
          <c:y val="0.26397203106774869"/>
          <c:w val="0.48070738347506109"/>
          <c:h val="0.6491690894304494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'Summarization 2'!$B$232:$B$233</c:f>
              <c:strCache>
                <c:ptCount val="2"/>
                <c:pt idx="0">
                  <c:v>Q6</c:v>
                </c:pt>
                <c:pt idx="1">
                  <c:v>Churn Rate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'Summarization 2'!$A$234:$A$237</c:f>
              <c:strCache>
                <c:ptCount val="4"/>
                <c:pt idx="0">
                  <c:v>Electronic check</c:v>
                </c:pt>
                <c:pt idx="1">
                  <c:v>Mailed check</c:v>
                </c:pt>
                <c:pt idx="2">
                  <c:v>Bank transfer (automatic)</c:v>
                </c:pt>
                <c:pt idx="3">
                  <c:v>Credit card (automatic)</c:v>
                </c:pt>
              </c:strCache>
            </c:strRef>
          </c:cat>
          <c:val>
            <c:numRef>
              <c:f>'Summarization 2'!$B$234:$B$237</c:f>
              <c:numCache>
                <c:formatCode>0.00%</c:formatCode>
                <c:ptCount val="4"/>
                <c:pt idx="0">
                  <c:v>0.45290000000000002</c:v>
                </c:pt>
                <c:pt idx="1">
                  <c:v>0.19109999999999999</c:v>
                </c:pt>
                <c:pt idx="2">
                  <c:v>0.1671</c:v>
                </c:pt>
                <c:pt idx="3">
                  <c:v>0.15240000000000001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B7-4D00-9013-772EC02B7AB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2067820751"/>
        <c:axId val="2067822415"/>
      </c:barChart>
      <c:catAx>
        <c:axId val="206782075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822415"/>
        <c:crosses val="autoZero"/>
        <c:auto val="1"/>
        <c:lblAlgn val="ctr"/>
        <c:lblOffset val="100"/>
        <c:noMultiLvlLbl val="0"/>
      </c:catAx>
      <c:valAx>
        <c:axId val="2067822415"/>
        <c:scaling>
          <c:orientation val="minMax"/>
        </c:scaling>
        <c:delete val="1"/>
        <c:axPos val="t"/>
        <c:numFmt formatCode="0.00%" sourceLinked="1"/>
        <c:majorTickMark val="none"/>
        <c:minorTickMark val="none"/>
        <c:tickLblPos val="nextTo"/>
        <c:crossAx val="20678207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25400" cap="flat" cmpd="sng" algn="ctr">
      <a:solidFill>
        <a:schemeClr val="tx1">
          <a:lumMod val="50000"/>
          <a:lumOff val="50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04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22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ize="5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72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C73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9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jpe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Relationship Id="rId9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6275" y="123371"/>
            <a:ext cx="3041954" cy="456293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64457"/>
            <a:ext cx="4722763" cy="13570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800" b="1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BUSINESS ANALYTICS REPORT</a:t>
            </a:r>
            <a:endParaRPr lang="en-US" sz="2800" b="1" dirty="0">
              <a:solidFill>
                <a:srgbClr val="1B1B27"/>
              </a:solidFill>
              <a:ea typeface="Alexandria" pitchFamily="34" charset="-122"/>
              <a:cs typeface="Alexandria" panose="020B0604020202020204" charset="-78"/>
            </a:endParaRPr>
          </a:p>
          <a:p>
            <a:pPr marL="0" indent="0" algn="ctr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1B1B27"/>
                </a:solidFill>
                <a:ea typeface="Alexandria" pitchFamily="34" charset="-122"/>
                <a:cs typeface="Alexandria" pitchFamily="34" charset="-120"/>
              </a:rPr>
              <a:t>   Customer Behaviour &amp; Business Performance Analysis</a:t>
            </a:r>
            <a:endParaRPr lang="en-US" sz="2800" b="1" dirty="0"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6CC5631A-A133-4E59-9DED-F785B7F3C534}"/>
              </a:ext>
            </a:extLst>
          </p:cNvPr>
          <p:cNvSpPr/>
          <p:nvPr/>
        </p:nvSpPr>
        <p:spPr>
          <a:xfrm>
            <a:off x="496119" y="2404836"/>
            <a:ext cx="4722763" cy="2210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>
              <a:lnSpc>
                <a:spcPct val="17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600" b="1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Company: </a:t>
            </a:r>
            <a:r>
              <a:rPr lang="en-US" sz="1600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ABC Communications Ltd</a:t>
            </a:r>
          </a:p>
          <a:p>
            <a:pPr marL="0" marR="0">
              <a:lnSpc>
                <a:spcPct val="17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600" b="1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Project no.: </a:t>
            </a:r>
            <a:r>
              <a:rPr lang="en-US" sz="1600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Project 1</a:t>
            </a:r>
          </a:p>
          <a:p>
            <a:pPr marL="0" marR="0">
              <a:lnSpc>
                <a:spcPct val="17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600" b="1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Role: </a:t>
            </a:r>
            <a:r>
              <a:rPr lang="en-US" sz="1600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Junior Data Analyst (AnalystLab Africa)</a:t>
            </a:r>
            <a:r>
              <a:rPr lang="en-US" sz="1600" b="1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 </a:t>
            </a:r>
            <a:endParaRPr lang="en-US" sz="1600" dirty="0">
              <a:effectLst/>
              <a:ea typeface="Times New Roman" panose="02020603050405020304" pitchFamily="18" charset="0"/>
              <a:cs typeface="Alexandria" panose="020B0604020202020204" charset="-78"/>
            </a:endParaRPr>
          </a:p>
          <a:p>
            <a:pPr marL="0" marR="0">
              <a:lnSpc>
                <a:spcPct val="17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600" b="1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Prepared for: </a:t>
            </a:r>
            <a:r>
              <a:rPr lang="en-US" sz="1600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Management </a:t>
            </a:r>
          </a:p>
          <a:p>
            <a:pPr marL="0" marR="0">
              <a:lnSpc>
                <a:spcPct val="17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600" b="1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Prepared by: </a:t>
            </a:r>
            <a:r>
              <a:rPr lang="en-US" sz="1600" dirty="0">
                <a:effectLst/>
                <a:ea typeface="Times New Roman" panose="02020603050405020304" pitchFamily="18" charset="0"/>
                <a:cs typeface="Alexandria" panose="020B0604020202020204" charset="-78"/>
              </a:rPr>
              <a:t>Samson Oluwatimilehin Arawande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6" y="519769"/>
            <a:ext cx="3179627" cy="453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1B1B27"/>
                </a:solidFill>
                <a:ea typeface="Alexandria" pitchFamily="34" charset="-122"/>
                <a:cs typeface="Alexandria" pitchFamily="34" charset="-120"/>
              </a:rPr>
              <a:t>Executive Summary</a:t>
            </a:r>
            <a:endParaRPr lang="en-US" sz="2800" b="1" dirty="0"/>
          </a:p>
        </p:txBody>
      </p:sp>
      <p:sp>
        <p:nvSpPr>
          <p:cNvPr id="4" name="Text 1"/>
          <p:cNvSpPr/>
          <p:nvPr/>
        </p:nvSpPr>
        <p:spPr>
          <a:xfrm>
            <a:off x="3925116" y="1109315"/>
            <a:ext cx="5030198" cy="16483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The telecommunications industry operates in a highly competitive environment where </a:t>
            </a:r>
            <a:r>
              <a:rPr lang="en-US" sz="1200" b="1" dirty="0">
                <a:solidFill>
                  <a:srgbClr val="404155"/>
                </a:solidFill>
                <a:ea typeface="Nobile Bold" pitchFamily="34" charset="-122"/>
                <a:cs typeface="Nobile Bold" pitchFamily="34" charset="-120"/>
              </a:rPr>
              <a:t>customer retention is critical</a:t>
            </a: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to maintaining stable revenue and long-term growth. Understanding customer behavior and the factors associated with churn enables businesses to improve retention and strengthen customer relationships.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925118" y="3234670"/>
            <a:ext cx="4722763" cy="1247402"/>
          </a:xfrm>
          <a:prstGeom prst="roundRect">
            <a:avLst>
              <a:gd name="adj" fmla="val 4773"/>
            </a:avLst>
          </a:prstGeom>
          <a:solidFill>
            <a:srgbClr val="D2DDF9"/>
          </a:solidFill>
          <a:ln/>
        </p:spPr>
        <p:txBody>
          <a:bodyPr numCol="1"/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3925120" y="3234671"/>
            <a:ext cx="4722762" cy="1247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1450" indent="-171450" algn="l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solidFill>
                  <a:srgbClr val="000000"/>
                </a:solidFill>
                <a:ea typeface="Nobile" pitchFamily="34" charset="-122"/>
                <a:cs typeface="Nobile" pitchFamily="34" charset="-120"/>
              </a:rPr>
              <a:t>This project analyzes customer churn within a telecommunications customer base to identify patterns that support better retention decisions for ABC Communications Ltd.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0400" y="78063"/>
            <a:ext cx="6337313" cy="486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28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Problem Statement &amp; Business Objectives</a:t>
            </a:r>
            <a:endParaRPr lang="en-US" sz="2800" b="1" dirty="0"/>
          </a:p>
        </p:txBody>
      </p:sp>
      <p:sp>
        <p:nvSpPr>
          <p:cNvPr id="3" name="Text 1"/>
          <p:cNvSpPr/>
          <p:nvPr/>
        </p:nvSpPr>
        <p:spPr>
          <a:xfrm>
            <a:off x="477143" y="761925"/>
            <a:ext cx="1572167" cy="276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Business Problem</a:t>
            </a:r>
            <a:endParaRPr lang="en-US" sz="1400" b="1" dirty="0"/>
          </a:p>
        </p:txBody>
      </p:sp>
      <p:sp>
        <p:nvSpPr>
          <p:cNvPr id="4" name="Text 2"/>
          <p:cNvSpPr/>
          <p:nvPr/>
        </p:nvSpPr>
        <p:spPr>
          <a:xfrm>
            <a:off x="477142" y="1191315"/>
            <a:ext cx="3919165" cy="1375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ABC Communications Ltd is experiencing customer churn and needs to understand the patterns and customer characteristics associated with customers leaving the business.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7143" y="2543171"/>
            <a:ext cx="1499595" cy="325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ea typeface="Alexandria" pitchFamily="34" charset="-122"/>
                <a:cs typeface="Alexandria" pitchFamily="34" charset="-120"/>
              </a:rPr>
              <a:t>Business Objective</a:t>
            </a:r>
            <a:endParaRPr lang="en-US" sz="1400" b="1" dirty="0"/>
          </a:p>
        </p:txBody>
      </p:sp>
      <p:sp>
        <p:nvSpPr>
          <p:cNvPr id="6" name="Text 4"/>
          <p:cNvSpPr/>
          <p:nvPr/>
        </p:nvSpPr>
        <p:spPr>
          <a:xfrm>
            <a:off x="477143" y="2930588"/>
            <a:ext cx="3919165" cy="1188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Analyze churn data, identify trends and patterns, and provide actionable insights to support more effective </a:t>
            </a:r>
            <a:r>
              <a:rPr lang="en-US" sz="1200" b="1" dirty="0">
                <a:solidFill>
                  <a:srgbClr val="404155"/>
                </a:solidFill>
                <a:ea typeface="Nobile Bold" pitchFamily="34" charset="-122"/>
                <a:cs typeface="Nobile Bold" pitchFamily="34" charset="-120"/>
              </a:rPr>
              <a:t>customer retention strategies</a:t>
            </a: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03192" y="1583440"/>
            <a:ext cx="3432379" cy="8018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8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Key Business Questions</a:t>
            </a:r>
            <a:endParaRPr lang="en-US" sz="2800" b="1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0500" y="2622545"/>
            <a:ext cx="192658" cy="19265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757690" y="2456724"/>
            <a:ext cx="2164584" cy="305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Who are our customers?</a:t>
            </a:r>
            <a:endParaRPr lang="en-US" sz="12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8045" y="2884334"/>
            <a:ext cx="192658" cy="19265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57690" y="2718874"/>
            <a:ext cx="2868202" cy="330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Which customer segments have the highest churn?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0500" y="3137418"/>
            <a:ext cx="192658" cy="1926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757690" y="2993836"/>
            <a:ext cx="2723384" cy="330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Does contract type influence retention?</a:t>
            </a:r>
            <a:endParaRPr lang="en-US" sz="12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0500" y="3449737"/>
            <a:ext cx="192658" cy="19265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757690" y="3289816"/>
            <a:ext cx="3020927" cy="330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Does customer tenure influence retention?</a:t>
            </a:r>
            <a:endParaRPr lang="en-US" sz="12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9198" y="3781303"/>
            <a:ext cx="192658" cy="19265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757690" y="3615173"/>
            <a:ext cx="3376527" cy="330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Which service features are associated with churn?</a:t>
            </a:r>
            <a:endParaRPr lang="en-US" sz="12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8045" y="4118754"/>
            <a:ext cx="192658" cy="19265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757690" y="3946094"/>
            <a:ext cx="2827186" cy="4081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Which payment methods have higher churn?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494" y="-108275"/>
            <a:ext cx="4075880" cy="809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8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Dataset &amp; Data Preparation</a:t>
            </a:r>
            <a:endParaRPr lang="en-US" sz="2800" b="1" dirty="0"/>
          </a:p>
        </p:txBody>
      </p:sp>
      <p:sp>
        <p:nvSpPr>
          <p:cNvPr id="4" name="Text 1"/>
          <p:cNvSpPr/>
          <p:nvPr/>
        </p:nvSpPr>
        <p:spPr>
          <a:xfrm>
            <a:off x="431752" y="946482"/>
            <a:ext cx="2340478" cy="406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0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Telco Customer Churn Dataset</a:t>
            </a:r>
            <a:endParaRPr lang="en-US" sz="1400" b="1" dirty="0"/>
          </a:p>
        </p:txBody>
      </p:sp>
      <p:sp>
        <p:nvSpPr>
          <p:cNvPr id="5" name="Text 2"/>
          <p:cNvSpPr/>
          <p:nvPr/>
        </p:nvSpPr>
        <p:spPr>
          <a:xfrm>
            <a:off x="496119" y="3212938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Alexandria Light" pitchFamily="34" charset="-122"/>
                <a:cs typeface="Alexandria Light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96119" y="3447380"/>
            <a:ext cx="4011513" cy="19050"/>
          </a:xfrm>
          <a:prstGeom prst="rect">
            <a:avLst/>
          </a:prstGeom>
          <a:solidFill>
            <a:srgbClr val="1B54DA"/>
          </a:solidFill>
          <a:ln/>
        </p:spPr>
      </p:sp>
      <p:sp>
        <p:nvSpPr>
          <p:cNvPr id="7" name="Text 4"/>
          <p:cNvSpPr/>
          <p:nvPr/>
        </p:nvSpPr>
        <p:spPr>
          <a:xfrm>
            <a:off x="496119" y="3428713"/>
            <a:ext cx="4075880" cy="353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Reviewed structure; checked completeness and consistency.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636368" y="3196737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Alexandria Light" pitchFamily="34" charset="-122"/>
                <a:cs typeface="Alexandria Light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36367" y="3447380"/>
            <a:ext cx="4011513" cy="19050"/>
          </a:xfrm>
          <a:prstGeom prst="rect">
            <a:avLst/>
          </a:prstGeom>
          <a:solidFill>
            <a:srgbClr val="1B54DA"/>
          </a:solidFill>
          <a:ln/>
        </p:spPr>
      </p:sp>
      <p:sp>
        <p:nvSpPr>
          <p:cNvPr id="10" name="Text 7"/>
          <p:cNvSpPr/>
          <p:nvPr/>
        </p:nvSpPr>
        <p:spPr>
          <a:xfrm>
            <a:off x="4636367" y="3518408"/>
            <a:ext cx="4384261" cy="628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Standardized categorical labels; converted fields to analytical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formats.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96118" y="3914068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Alexandria Light" pitchFamily="34" charset="-122"/>
                <a:cs typeface="Alexandria Light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96120" y="4157042"/>
            <a:ext cx="4011513" cy="19050"/>
          </a:xfrm>
          <a:prstGeom prst="rect">
            <a:avLst/>
          </a:prstGeom>
          <a:solidFill>
            <a:srgbClr val="1B54DA"/>
          </a:solidFill>
          <a:ln/>
        </p:spPr>
      </p:sp>
      <p:sp>
        <p:nvSpPr>
          <p:cNvPr id="13" name="Text 10"/>
          <p:cNvSpPr/>
          <p:nvPr/>
        </p:nvSpPr>
        <p:spPr>
          <a:xfrm>
            <a:off x="496118" y="4273185"/>
            <a:ext cx="4011513" cy="6649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Grouped customers by tenure, demographics, service,</a:t>
            </a:r>
          </a:p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contract, and payment.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36368" y="3947665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Alexandria Light" pitchFamily="34" charset="-122"/>
                <a:cs typeface="Alexandria Light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36368" y="4166567"/>
            <a:ext cx="4011513" cy="19050"/>
          </a:xfrm>
          <a:prstGeom prst="rect">
            <a:avLst/>
          </a:prstGeom>
          <a:solidFill>
            <a:srgbClr val="1B54DA"/>
          </a:solidFill>
          <a:ln/>
        </p:spPr>
      </p:sp>
      <p:sp>
        <p:nvSpPr>
          <p:cNvPr id="16" name="Text 13"/>
          <p:cNvSpPr/>
          <p:nvPr/>
        </p:nvSpPr>
        <p:spPr>
          <a:xfrm>
            <a:off x="4636368" y="4278086"/>
            <a:ext cx="4442318" cy="5696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Calculated churn rates; prepared PivotTables and dashboard data.</a:t>
            </a:r>
            <a:endParaRPr lang="en-US" sz="1200" dirty="0"/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E869D053-ADF6-43D9-97F0-CA1192EB7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368" y="859036"/>
            <a:ext cx="3861867" cy="2188369"/>
          </a:xfrm>
          <a:prstGeom prst="rect">
            <a:avLst/>
          </a:prstGeom>
        </p:spPr>
      </p:pic>
      <p:sp>
        <p:nvSpPr>
          <p:cNvPr id="19" name="Text 1">
            <a:extLst>
              <a:ext uri="{FF2B5EF4-FFF2-40B4-BE49-F238E27FC236}">
                <a16:creationId xmlns:a16="http://schemas.microsoft.com/office/drawing/2014/main" id="{ED4948AC-9CFF-47D5-80D2-B1283FBCB8FE}"/>
              </a:ext>
            </a:extLst>
          </p:cNvPr>
          <p:cNvSpPr/>
          <p:nvPr/>
        </p:nvSpPr>
        <p:spPr>
          <a:xfrm>
            <a:off x="431752" y="1411023"/>
            <a:ext cx="3814622" cy="119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00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404155"/>
                </a:solidFill>
                <a:ea typeface="Nobile Bold" pitchFamily="34" charset="-122"/>
                <a:cs typeface="Nobile Bold" pitchFamily="34" charset="-120"/>
              </a:rPr>
              <a:t>7,043 customer records</a:t>
            </a: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covering demographics, account info, services, contract details, payment methods, charges, and churn status.</a:t>
            </a:r>
            <a:endParaRPr lang="en-US" sz="120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243FCF03-F795-463C-AE9A-44F000D12375}"/>
              </a:ext>
            </a:extLst>
          </p:cNvPr>
          <p:cNvSpPr/>
          <p:nvPr/>
        </p:nvSpPr>
        <p:spPr>
          <a:xfrm>
            <a:off x="431752" y="2759940"/>
            <a:ext cx="1636534" cy="406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Preparation Steps</a:t>
            </a:r>
            <a:endParaRPr lang="en-US" sz="1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/>
          <p:cNvSpPr/>
          <p:nvPr/>
        </p:nvSpPr>
        <p:spPr>
          <a:xfrm>
            <a:off x="496119" y="3163467"/>
            <a:ext cx="2290624" cy="3187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Customer Demographics</a:t>
            </a:r>
            <a:endParaRPr lang="en-US" sz="1400" b="1" dirty="0"/>
          </a:p>
        </p:txBody>
      </p:sp>
      <p:sp>
        <p:nvSpPr>
          <p:cNvPr id="12" name="Text 10"/>
          <p:cNvSpPr/>
          <p:nvPr/>
        </p:nvSpPr>
        <p:spPr>
          <a:xfrm>
            <a:off x="491356" y="3507730"/>
            <a:ext cx="3902943" cy="12414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23520" indent="-223520" algn="l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Male: 50.48% · Female: 49.52%</a:t>
            </a:r>
            <a:endParaRPr lang="en-US" sz="1200" dirty="0"/>
          </a:p>
          <a:p>
            <a:pPr marL="223520" indent="-223520" algn="l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Non-Senior Citizens: 83.70% · Senior Citizens: 16.30%</a:t>
            </a:r>
            <a:endParaRPr lang="en-US" sz="1200" dirty="0"/>
          </a:p>
          <a:p>
            <a:pPr marL="223520" indent="-223520" algn="l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Without Partner: 51.70% · With Partner: 48.30%</a:t>
            </a:r>
            <a:endParaRPr lang="en-US" sz="1200" dirty="0"/>
          </a:p>
          <a:p>
            <a:pPr marL="223520" indent="-223520" algn="l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Without Dependents: 70.04% · With Dependents: 29.96%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5478" y="3247525"/>
            <a:ext cx="2988008" cy="3187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Highest Demographic Churn Segments</a:t>
            </a:r>
            <a:endParaRPr lang="en-US" sz="1400" b="1" dirty="0"/>
          </a:p>
        </p:txBody>
      </p:sp>
      <p:sp>
        <p:nvSpPr>
          <p:cNvPr id="14" name="Text 12"/>
          <p:cNvSpPr/>
          <p:nvPr/>
        </p:nvSpPr>
        <p:spPr>
          <a:xfrm>
            <a:off x="5035829" y="3553421"/>
            <a:ext cx="2915438" cy="1195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23520" indent="-223520" algn="l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Senior Citizens</a:t>
            </a:r>
            <a:endParaRPr lang="en-US" sz="1200" dirty="0"/>
          </a:p>
          <a:p>
            <a:pPr marL="223520" indent="-223520" algn="l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Without Partner</a:t>
            </a:r>
            <a:endParaRPr lang="en-US" sz="1200" dirty="0"/>
          </a:p>
          <a:p>
            <a:pPr marL="223520" indent="-223520" algn="l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Without Dependents</a:t>
            </a:r>
            <a:endParaRPr lang="en-US" sz="1200" dirty="0"/>
          </a:p>
          <a:p>
            <a:pPr marL="223520" indent="-223520" algn="l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Female</a:t>
            </a:r>
            <a:endParaRPr lang="en-US" sz="1200" dirty="0"/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2A8DA840-50DB-4BE0-A46D-02D4DE94968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62094832"/>
              </p:ext>
            </p:extLst>
          </p:nvPr>
        </p:nvGraphicFramePr>
        <p:xfrm>
          <a:off x="120272" y="394343"/>
          <a:ext cx="4274027" cy="25638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BC570C0A-5299-40A8-9EC8-943D1351C2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3915037"/>
              </p:ext>
            </p:extLst>
          </p:nvPr>
        </p:nvGraphicFramePr>
        <p:xfrm>
          <a:off x="4572000" y="394343"/>
          <a:ext cx="4274027" cy="25638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BBBC50-53C0-4419-B166-65781DD59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098" y="0"/>
            <a:ext cx="5905804" cy="497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588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925119" y="1199704"/>
            <a:ext cx="5179963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Contract, Tenure, Services &amp; Payment</a:t>
            </a:r>
            <a:endParaRPr lang="en-US" sz="850" dirty="0"/>
          </a:p>
        </p:txBody>
      </p:sp>
      <p:sp>
        <p:nvSpPr>
          <p:cNvPr id="4" name="Shape 1"/>
          <p:cNvSpPr/>
          <p:nvPr/>
        </p:nvSpPr>
        <p:spPr>
          <a:xfrm>
            <a:off x="4140137" y="2125824"/>
            <a:ext cx="2290465" cy="1466627"/>
          </a:xfrm>
          <a:prstGeom prst="roundRect">
            <a:avLst>
              <a:gd name="adj" fmla="val 4060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42481" y="1838436"/>
            <a:ext cx="2285776" cy="177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650"/>
              </a:spcAft>
              <a:buNone/>
            </a:pPr>
            <a:r>
              <a:rPr lang="en-US" sz="85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 </a:t>
            </a:r>
          </a:p>
          <a:p>
            <a:pPr>
              <a:lnSpc>
                <a:spcPct val="133000"/>
              </a:lnSpc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</a:t>
            </a:r>
            <a:r>
              <a:rPr lang="en-US" sz="14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Contract Type</a:t>
            </a:r>
            <a:endParaRPr lang="en-US" sz="14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Month-to-month customers show weaker    retention than those on longer-term contracts. Contract commitment is strongly associated with higher retention.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515100" y="2129796"/>
            <a:ext cx="2290539" cy="1466627"/>
          </a:xfrm>
          <a:prstGeom prst="roundRect">
            <a:avLst>
              <a:gd name="adj" fmla="val 4060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15100" y="2143267"/>
            <a:ext cx="2290539" cy="1466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650"/>
              </a:spcAft>
              <a:buNone/>
            </a:pPr>
            <a:r>
              <a:rPr lang="en-US" sz="85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</a:t>
            </a:r>
            <a:r>
              <a:rPr lang="en-US" sz="14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Customer Tenure</a:t>
            </a:r>
            <a:endParaRPr lang="en-US" sz="14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</a:t>
            </a: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Retention generally improves as customer tenure increases. Loyalty strengthens with longer relationships.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42481" y="3751920"/>
            <a:ext cx="4722763" cy="922362"/>
          </a:xfrm>
          <a:prstGeom prst="roundRect">
            <a:avLst>
              <a:gd name="adj" fmla="val 6455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40138" y="3755893"/>
            <a:ext cx="4725106" cy="918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650"/>
              </a:spcAft>
              <a:buNone/>
            </a:pPr>
            <a:r>
              <a:rPr lang="en-US" sz="85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</a:t>
            </a:r>
            <a:r>
              <a:rPr lang="en-US" sz="14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Services &amp; Payment</a:t>
            </a:r>
          </a:p>
          <a:p>
            <a:pPr marL="0" indent="0" algn="l">
              <a:lnSpc>
                <a:spcPct val="133000"/>
              </a:lnSpc>
              <a:spcAft>
                <a:spcPts val="650"/>
              </a:spcAft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Churn varies across service configurations. </a:t>
            </a:r>
            <a:r>
              <a:rPr lang="en-US" sz="1200" b="1" dirty="0">
                <a:solidFill>
                  <a:srgbClr val="404155"/>
                </a:solidFill>
                <a:ea typeface="Nobile Bold" pitchFamily="34" charset="-122"/>
                <a:cs typeface="Nobile Bold" pitchFamily="34" charset="-120"/>
              </a:rPr>
              <a:t>Electronic Check</a:t>
            </a: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customers record the highest churn among all payment methods analyzed.</a:t>
            </a:r>
            <a:endParaRPr lang="en-US" sz="1200" dirty="0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11A4469A-73E6-497C-AE08-5DFFBD20FF3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50906702"/>
              </p:ext>
            </p:extLst>
          </p:nvPr>
        </p:nvGraphicFramePr>
        <p:xfrm>
          <a:off x="191316" y="140615"/>
          <a:ext cx="3342911" cy="16083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B88D3FF0-A7C7-4104-97B4-F5476475CF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4917690"/>
              </p:ext>
            </p:extLst>
          </p:nvPr>
        </p:nvGraphicFramePr>
        <p:xfrm>
          <a:off x="3679625" y="140615"/>
          <a:ext cx="5071918" cy="16083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7B45EC4D-C4A2-45A2-8EB3-255371AADE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923905"/>
              </p:ext>
            </p:extLst>
          </p:nvPr>
        </p:nvGraphicFramePr>
        <p:xfrm>
          <a:off x="191316" y="1838436"/>
          <a:ext cx="3342911" cy="14666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DF73A4B6-11F4-45F3-9D39-8908812B3D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0268962"/>
              </p:ext>
            </p:extLst>
          </p:nvPr>
        </p:nvGraphicFramePr>
        <p:xfrm>
          <a:off x="191316" y="3414495"/>
          <a:ext cx="3342911" cy="16083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55338"/>
            <a:ext cx="324856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1B1B27"/>
                </a:solidFill>
                <a:ea typeface="Alexandria" pitchFamily="34" charset="-122"/>
                <a:cs typeface="Alexandria" pitchFamily="34" charset="-120"/>
              </a:rPr>
              <a:t>Business Insights</a:t>
            </a:r>
            <a:endParaRPr lang="en-US" sz="2800" b="1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334095"/>
            <a:ext cx="2622724" cy="15300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3127" y="1494904"/>
            <a:ext cx="22249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Alexandria" pitchFamily="34" charset="-122"/>
                <a:cs typeface="Alexandria" pitchFamily="34" charset="-120"/>
              </a:rPr>
              <a:t>Churn is Significant</a:t>
            </a:r>
            <a:endParaRPr lang="en-US" sz="1400" b="1" dirty="0"/>
          </a:p>
        </p:txBody>
      </p:sp>
      <p:sp>
        <p:nvSpPr>
          <p:cNvPr id="5" name="Text 2"/>
          <p:cNvSpPr/>
          <p:nvPr/>
        </p:nvSpPr>
        <p:spPr>
          <a:xfrm>
            <a:off x="733127" y="1801416"/>
            <a:ext cx="22249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26.54% of customers have churned — 1,869 customers lost.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0601" y="1334095"/>
            <a:ext cx="2622724" cy="153002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97610" y="1494904"/>
            <a:ext cx="222490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Alexandria" pitchFamily="34" charset="-122"/>
                <a:cs typeface="Alexandria" pitchFamily="34" charset="-120"/>
              </a:rPr>
              <a:t>Senior Citizens at Highest Risk</a:t>
            </a:r>
            <a:endParaRPr lang="en-US" sz="1400" b="1" dirty="0"/>
          </a:p>
        </p:txBody>
      </p:sp>
      <p:sp>
        <p:nvSpPr>
          <p:cNvPr id="8" name="Text 4"/>
          <p:cNvSpPr/>
          <p:nvPr/>
        </p:nvSpPr>
        <p:spPr>
          <a:xfrm>
            <a:off x="3459510" y="1792288"/>
            <a:ext cx="2224906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Churn rate of </a:t>
            </a:r>
            <a:r>
              <a:rPr lang="en-US" sz="1200" b="1" dirty="0">
                <a:solidFill>
                  <a:srgbClr val="404155"/>
                </a:solidFill>
                <a:ea typeface="Nobile Bold" pitchFamily="34" charset="-122"/>
                <a:cs typeface="Nobile Bold" pitchFamily="34" charset="-120"/>
              </a:rPr>
              <a:t>41.68%</a:t>
            </a: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, substantially above the overall average.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25083" y="1334095"/>
            <a:ext cx="2622724" cy="153002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262092" y="1494905"/>
            <a:ext cx="2224906" cy="306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Alexandria" pitchFamily="34" charset="-122"/>
                <a:cs typeface="Alexandria" pitchFamily="34" charset="-120"/>
              </a:rPr>
              <a:t>Contract Commitment Retains</a:t>
            </a:r>
            <a:endParaRPr lang="en-US" sz="1400" b="1" dirty="0"/>
          </a:p>
        </p:txBody>
      </p:sp>
      <p:sp>
        <p:nvSpPr>
          <p:cNvPr id="11" name="Text 6"/>
          <p:cNvSpPr/>
          <p:nvPr/>
        </p:nvSpPr>
        <p:spPr>
          <a:xfrm>
            <a:off x="6262091" y="1797674"/>
            <a:ext cx="2294079" cy="7740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Month-to-month customers show weaker retention than longer-term contract holders.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3005882"/>
            <a:ext cx="2622724" cy="153002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33127" y="3166690"/>
            <a:ext cx="222490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Alexandria" pitchFamily="34" charset="-122"/>
                <a:cs typeface="Alexandria" pitchFamily="34" charset="-120"/>
              </a:rPr>
              <a:t>Loyalty Grows with Tenure</a:t>
            </a:r>
            <a:endParaRPr lang="en-US" sz="1400" b="1" dirty="0"/>
          </a:p>
        </p:txBody>
      </p:sp>
      <p:sp>
        <p:nvSpPr>
          <p:cNvPr id="14" name="Text 8"/>
          <p:cNvSpPr/>
          <p:nvPr/>
        </p:nvSpPr>
        <p:spPr>
          <a:xfrm>
            <a:off x="733127" y="3694658"/>
            <a:ext cx="2224906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Longer-tenure customers demonstrate higher retention rates.</a:t>
            </a:r>
            <a:endParaRPr lang="en-US" sz="12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0601" y="3005882"/>
            <a:ext cx="2622724" cy="153002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497610" y="3166690"/>
            <a:ext cx="22249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Alexandria" pitchFamily="34" charset="-122"/>
                <a:cs typeface="Alexandria" pitchFamily="34" charset="-120"/>
              </a:rPr>
              <a:t>Electronic Check Risk</a:t>
            </a:r>
            <a:endParaRPr lang="en-US" sz="1400" b="1" dirty="0"/>
          </a:p>
        </p:txBody>
      </p:sp>
      <p:sp>
        <p:nvSpPr>
          <p:cNvPr id="17" name="Text 10"/>
          <p:cNvSpPr/>
          <p:nvPr/>
        </p:nvSpPr>
        <p:spPr>
          <a:xfrm>
            <a:off x="3497610" y="3473202"/>
            <a:ext cx="22249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Highest payment-method churn — requires deeper investigation.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5952" y="162260"/>
            <a:ext cx="2305137" cy="567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8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Business Risks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919" y="1441475"/>
            <a:ext cx="3993356" cy="23959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3972967"/>
            <a:ext cx="5644232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endParaRPr lang="en-US" sz="800" dirty="0"/>
          </a:p>
        </p:txBody>
      </p:sp>
      <p:sp>
        <p:nvSpPr>
          <p:cNvPr id="5" name="Shape 2"/>
          <p:cNvSpPr/>
          <p:nvPr/>
        </p:nvSpPr>
        <p:spPr>
          <a:xfrm>
            <a:off x="6006703" y="959495"/>
            <a:ext cx="2645866" cy="1022226"/>
          </a:xfrm>
          <a:prstGeom prst="roundRect">
            <a:avLst>
              <a:gd name="adj" fmla="val 5370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06703" y="959495"/>
            <a:ext cx="2645866" cy="1022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5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Customer Revenue Loss</a:t>
            </a:r>
            <a:endParaRPr lang="en-US" sz="1400" b="1" dirty="0"/>
          </a:p>
          <a:p>
            <a:pPr marL="0" indent="0" algn="l">
              <a:spcAft>
                <a:spcPts val="850"/>
              </a:spcAft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The 26.54% churn rate creates significant risk of continued customer and recurring-revenue loss</a:t>
            </a:r>
            <a:r>
              <a:rPr lang="en-US" sz="8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.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006703" y="2102197"/>
            <a:ext cx="2645866" cy="1182960"/>
          </a:xfrm>
          <a:prstGeom prst="roundRect">
            <a:avLst>
              <a:gd name="adj" fmla="val 4640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06703" y="2117155"/>
            <a:ext cx="2645866" cy="1153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spcAft>
                <a:spcPts val="85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Concentrated High-Risk Segments</a:t>
            </a:r>
            <a:endParaRPr lang="en-US" sz="1400" b="1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High churn among Senior Citizens and other identified segments creates a risk that </a:t>
            </a:r>
            <a:r>
              <a:rPr lang="en-US" sz="1200" b="1" dirty="0">
                <a:solidFill>
                  <a:srgbClr val="404155"/>
                </a:solidFill>
                <a:ea typeface="Nobile Bold" pitchFamily="34" charset="-122"/>
                <a:cs typeface="Nobile Bold" pitchFamily="34" charset="-120"/>
              </a:rPr>
              <a:t>generic retention strategies</a:t>
            </a: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will fail to address vulnerable groups.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06703" y="3405634"/>
            <a:ext cx="2645866" cy="1182960"/>
          </a:xfrm>
          <a:prstGeom prst="roundRect">
            <a:avLst>
              <a:gd name="adj" fmla="val 4640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6702" y="3405634"/>
            <a:ext cx="2641179" cy="1153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5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Early Customer Attrition</a:t>
            </a:r>
            <a:endParaRPr lang="en-US" sz="1400" b="1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Lower retention among month-to-month and newer customers creates a risk of losing customers </a:t>
            </a:r>
            <a:r>
              <a:rPr lang="en-US" sz="1200" b="1" dirty="0">
                <a:solidFill>
                  <a:srgbClr val="404155"/>
                </a:solidFill>
                <a:ea typeface="Nobile Bold" pitchFamily="34" charset="-122"/>
                <a:cs typeface="Nobile Bold" pitchFamily="34" charset="-120"/>
              </a:rPr>
              <a:t>before long-term loyalty develops</a:t>
            </a: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1777" y="71327"/>
            <a:ext cx="3335652" cy="524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28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Business Opportunities</a:t>
            </a:r>
            <a:endParaRPr lang="en-US" sz="2800" b="1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864691"/>
            <a:ext cx="343272" cy="34327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96119" y="1272006"/>
            <a:ext cx="4722763" cy="8646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1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Targeted Retention</a:t>
            </a:r>
            <a:endParaRPr lang="en-US" sz="1400" b="1" dirty="0"/>
          </a:p>
          <a:p>
            <a:pPr marL="0" indent="0" algn="l">
              <a:lnSpc>
                <a:spcPct val="131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Use customer characteristics and churn patterns to identify and proactively engage high-risk customers.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119" y="2238821"/>
            <a:ext cx="343272" cy="34327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96119" y="2586375"/>
            <a:ext cx="4722763" cy="793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1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Contract Conversion</a:t>
            </a:r>
            <a:endParaRPr lang="en-US" sz="1400" b="1" dirty="0"/>
          </a:p>
          <a:p>
            <a:pPr marL="0" indent="0" algn="l">
              <a:lnSpc>
                <a:spcPct val="131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Create value-based incentives for suitable month-to-month customers to adopt longer-term contracts.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6119" y="3612952"/>
            <a:ext cx="343272" cy="34327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496119" y="3963889"/>
            <a:ext cx="4837881" cy="88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1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Customer Experience Optimization</a:t>
            </a:r>
            <a:endParaRPr lang="en-US" sz="1400" b="1" dirty="0"/>
          </a:p>
          <a:p>
            <a:pPr marL="0" indent="0" algn="l">
              <a:lnSpc>
                <a:spcPct val="131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Investigate service configurations and Electronic Check customers to identify opportunities to improve the customer experience and retention.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5429" y="76646"/>
            <a:ext cx="4823366" cy="535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28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Recommendations &amp; Conclusion</a:t>
            </a:r>
            <a:endParaRPr lang="en-US" sz="2800" b="1" dirty="0"/>
          </a:p>
        </p:txBody>
      </p:sp>
      <p:sp>
        <p:nvSpPr>
          <p:cNvPr id="3" name="Text 1"/>
          <p:cNvSpPr/>
          <p:nvPr/>
        </p:nvSpPr>
        <p:spPr>
          <a:xfrm>
            <a:off x="496120" y="709095"/>
            <a:ext cx="2936510" cy="3045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Key Recommendations</a:t>
            </a:r>
            <a:endParaRPr lang="en-US" sz="1400" b="1" dirty="0"/>
          </a:p>
        </p:txBody>
      </p:sp>
      <p:sp>
        <p:nvSpPr>
          <p:cNvPr id="4" name="Shape 2"/>
          <p:cNvSpPr/>
          <p:nvPr/>
        </p:nvSpPr>
        <p:spPr>
          <a:xfrm>
            <a:off x="496119" y="1206922"/>
            <a:ext cx="1901354" cy="1154757"/>
          </a:xfrm>
          <a:prstGeom prst="roundRect">
            <a:avLst>
              <a:gd name="adj" fmla="val 4673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6120" y="1206922"/>
            <a:ext cx="1884535" cy="1154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Launch targeted retention campaigns</a:t>
            </a:r>
            <a:endParaRPr lang="en-US" sz="1400" b="1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Prioritize high-risk segments, particularly Senior Citizens.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3856" y="1206922"/>
            <a:ext cx="1901428" cy="1154757"/>
          </a:xfrm>
          <a:prstGeom prst="roundRect">
            <a:avLst>
              <a:gd name="adj" fmla="val 4673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97038" y="1206923"/>
            <a:ext cx="1918246" cy="1154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2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</a:t>
            </a:r>
            <a:r>
              <a:rPr lang="en-US" sz="15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Strengthen early-tenure engagement</a:t>
            </a:r>
            <a:endParaRPr lang="en-US" sz="1500" b="1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Proactive onboarding and support during the first 12–24 months.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6119" y="2478063"/>
            <a:ext cx="1901354" cy="1154757"/>
          </a:xfrm>
          <a:prstGeom prst="roundRect">
            <a:avLst>
              <a:gd name="adj" fmla="val 4673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356" y="2478064"/>
            <a:ext cx="1906117" cy="1154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Encourage longer-term contracts</a:t>
            </a:r>
            <a:endParaRPr lang="en-US" sz="1400" b="1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Offer relevant incentives to month-to-month customers.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3856" y="2478063"/>
            <a:ext cx="1901428" cy="1154757"/>
          </a:xfrm>
          <a:prstGeom prst="roundRect">
            <a:avLst>
              <a:gd name="adj" fmla="val 4673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25912" y="2478064"/>
            <a:ext cx="1889372" cy="1154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2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Investigate Electronic Check churn</a:t>
            </a:r>
            <a:endParaRPr lang="en-US" sz="1400" b="1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Assess whether alternative payment options could improve retention.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6119" y="3749204"/>
            <a:ext cx="3919165" cy="841325"/>
          </a:xfrm>
          <a:prstGeom prst="roundRect">
            <a:avLst>
              <a:gd name="adj" fmla="val 6414"/>
            </a:avLst>
          </a:prstGeom>
          <a:solidFill>
            <a:srgbClr val="D2DDF9"/>
          </a:solidFill>
          <a:ln w="4763">
            <a:solidFill>
              <a:srgbClr val="B8C3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120" y="3749205"/>
            <a:ext cx="3919164" cy="841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 Develop proactive churn monitoring</a:t>
            </a:r>
            <a:endParaRPr lang="en-US" sz="1400" b="1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 Build a churn-risk framework using contract type, tenure, demographics, services, and payment method.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67510" y="657871"/>
            <a:ext cx="1633290" cy="304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Conclusion</a:t>
            </a:r>
            <a:endParaRPr lang="en-US" sz="1400" b="1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EFF27B53-6A6D-43EF-AD3A-3F81442BD6E5}"/>
              </a:ext>
            </a:extLst>
          </p:cNvPr>
          <p:cNvSpPr/>
          <p:nvPr/>
        </p:nvSpPr>
        <p:spPr>
          <a:xfrm>
            <a:off x="4767510" y="1188818"/>
            <a:ext cx="3919165" cy="978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7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Customer churn is a significant challenge at </a:t>
            </a:r>
            <a:r>
              <a:rPr lang="en-US" sz="1200" b="1" dirty="0">
                <a:solidFill>
                  <a:srgbClr val="404155"/>
                </a:solidFill>
                <a:ea typeface="Nobile Bold" pitchFamily="34" charset="-122"/>
                <a:cs typeface="Nobile Bold" pitchFamily="34" charset="-120"/>
              </a:rPr>
              <a:t>26.54%</a:t>
            </a:r>
            <a:r>
              <a:rPr lang="en-US" sz="1200" dirty="0">
                <a:solidFill>
                  <a:srgbClr val="404155"/>
                </a:solidFill>
                <a:ea typeface="Nobile" pitchFamily="34" charset="-122"/>
                <a:cs typeface="Nobile" pitchFamily="34" charset="-120"/>
              </a:rPr>
              <a:t>, but it is not evenly distributed. Notable differences exist across demographics, contract type, tenure, services, and payment method.</a:t>
            </a:r>
            <a:endParaRPr lang="en-US" sz="1200" dirty="0"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1EC8624B-C1AC-4A74-ACAC-CA7704674D8F}"/>
              </a:ext>
            </a:extLst>
          </p:cNvPr>
          <p:cNvSpPr/>
          <p:nvPr/>
        </p:nvSpPr>
        <p:spPr>
          <a:xfrm>
            <a:off x="4728718" y="2393400"/>
            <a:ext cx="3919165" cy="1057275"/>
          </a:xfrm>
          <a:prstGeom prst="roundRect">
            <a:avLst>
              <a:gd name="adj" fmla="val 5104"/>
            </a:avLst>
          </a:prstGeom>
          <a:solidFill>
            <a:srgbClr val="B6FCB8"/>
          </a:solidFill>
          <a:ln/>
        </p:spPr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0848B312-5637-416A-A48B-4E93B4D0F91B}"/>
              </a:ext>
            </a:extLst>
          </p:cNvPr>
          <p:cNvSpPr/>
          <p:nvPr/>
        </p:nvSpPr>
        <p:spPr>
          <a:xfrm>
            <a:off x="4728716" y="2393401"/>
            <a:ext cx="3919165" cy="10572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ea typeface="Nobile" pitchFamily="34" charset="-122"/>
                <a:cs typeface="Nobile" pitchFamily="34" charset="-120"/>
              </a:rPr>
              <a:t>The strongest opportunities lie in </a:t>
            </a:r>
            <a:r>
              <a:rPr lang="en-US" sz="1200" b="1" dirty="0">
                <a:solidFill>
                  <a:srgbClr val="000000"/>
                </a:solidFill>
                <a:ea typeface="Nobile Bold" pitchFamily="34" charset="-122"/>
                <a:cs typeface="Nobile Bold" pitchFamily="34" charset="-120"/>
              </a:rPr>
              <a:t>targeted retention, early-tenure engagement, longer-term contract adoption</a:t>
            </a:r>
            <a:r>
              <a:rPr lang="en-US" sz="1200" dirty="0">
                <a:solidFill>
                  <a:srgbClr val="000000"/>
                </a:solidFill>
                <a:ea typeface="Nobile" pitchFamily="34" charset="-122"/>
                <a:cs typeface="Nobile" pitchFamily="34" charset="-120"/>
              </a:rPr>
              <a:t>, and deeper investigation of high-risk groups. A proactive, data-driven strategy can help identify vulnerable customers earlier and improve long-term retention.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805</Words>
  <Application>Microsoft Office PowerPoint</Application>
  <PresentationFormat>On-screen Show (16:9)</PresentationFormat>
  <Paragraphs>118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Wingdings</vt:lpstr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kickandwheels</dc:creator>
  <cp:lastModifiedBy>Samson Arawande</cp:lastModifiedBy>
  <cp:revision>19</cp:revision>
  <dcterms:created xsi:type="dcterms:W3CDTF">2026-08-08T17:04:25Z</dcterms:created>
  <dcterms:modified xsi:type="dcterms:W3CDTF">2026-08-09T18:22:51Z</dcterms:modified>
</cp:coreProperties>
</file>